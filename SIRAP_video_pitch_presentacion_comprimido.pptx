
<file path=[Content_Types].xml><?xml version="1.0" encoding="utf-8"?>
<Types xmlns="http://schemas.openxmlformats.org/package/2006/content-types">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2" d="100"/>
          <a:sy n="122" d="100"/>
        </p:scale>
        <p:origin x="114" y="2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1919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[0:00–0:30 | Introducción y problema]
En una garita de acceso, leer una placa y luego buscarla manualmente puede generar demoras, errores de digitación y registros difíciles de consultar posteriormente. SIRAP busca simplificar este proceso. El sistema detecta automáticamente la placa del vehículo, reconoce sus caracteres y consulta si está autorizado para ingresar. Finalmente, muestra el resultado al operador para que pueda revisarlo y tomar la decisión correspondiente. El proyecto fue desarrollado por Eduardo Alejandro Ceballos Jijón y Christian Xavier Valle Maridueña.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[0:30–1:30 | Datos y metodología]
Para desarrollar SIRAP utilizamos dos conjuntos de datos. Para detectar las placas trabajamos con un dataset de Roboflow que contiene más de 10 mil imágenes, divididas entre entrenamiento, validación y prueba. Para evaluar la lectura de los caracteres utilizamos una muestra de placas de Guayaquil, con 739 recortes, de los cuales 472 fueron considerados legibles. El funcionamiento se divide en dos etapas principales. Primero, YOLO identifica dónde se encuentra la placa dentro de la imagen. Luego, el OCR lee las letras y números. Después, el sistema ajusta el resultado al formato de las placas ecuatorianas y lo compara con las listas de vehículos autorizados o restringidos. También aplicamos algunos ajustes para mejorar la lectura. Por ejemplo, conservamos un margen alrededor de la placa para evitar que se corten caracteres y ajustamos las imágenes manteniendo sus proporciones.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[1:30–2:15 | Desarrollo y optimización]
Uno de los principales retos fue lograr que el sistema detectara correctamente placas pequeñas y, al mismo tiempo, pudiera ejecutarse sin requerir equipos de alto rendimiento. Para mejorar el modelo realizamos diferentes pruebas de configuración. El análisis mostró que uno de los factores que más influía en el desempeño era la tasa de aprendizaje, seguido por el tamaño de la imagen. Durante el entrenamiento, el indicador principal de detección mejoró de aproximadamente 85 % a 97 %. También probamos una configuración optimizada. La mejora adicional fue pequeña, por lo que decidimos conservar el modelo que ofrecía el mejor equilibrio entre precisión, estabilidad y facilidad de implementación.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[2:15–2:35 | Cómo funciona SIRAP]
El proceso es sencillo. Primero se recibe la imagen del vehículo. SIRAP identifica la placa y reconoce sus caracteres. Luego consulta la información registrada y determina el estado del vehículo. El operador revisa el resultado y confirma la operación. Finalmente, el sistema registra lo ocurrido y devuelve la decisión correspondiente. En la versión de demostración, la apertura de la barrera es simulada.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[2:35–3:15 | SIRAP en funcionamiento]
En esta demostración veremos tres situaciones. En el primer caso, ingresamos una imagen de un vehículo autorizado. SIRAP detecta la placa, muestra el recorte utilizado para la lectura, identifica los caracteres y presenta el resultado para que el operador pueda registrarlo. En el segundo caso utilizamos una placa restringida o no registrada. El sistema identifica la condición y no permite continuar automáticamente. Finalmente, mostramos qué ocurre cuando existe una imagen inválida o una lectura poco confiable. En estos casos, SIRAP informa al usuario y solicita una revisión manual. Esto permite que el sistema apoye al operador sin eliminar el control humano sobre la decisión final.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[3:15–4:00 | Resultados obtenidos]
Los resultados muestran un buen desempeño del sistema. En las pruebas, el detector alcanzó aproximadamente un 97 % de efectividad en la localización de placas, con una precisión cercana al 99 % y una capacidad de detección superior al 95 %. Por su parte, el OCR obtuvo un 93,7 % de lecturas completamente correctas en las placas evaluadas. Cuando el sistema trabaja únicamente con lecturas de alta confianza, el porcentaje de reconocimiento correcto supera el 96 %. Estos resultados son positivos para el prototipo, aunque también identificamos condiciones en las que el desempeño disminuye, principalmente con placas pequeñas, poca iluminación o placas deterioradas.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[4:00–4:45 | Seguridad, privacidad y limitaciones]
También analizamos los riesgos y limitaciones del sistema. Por ejemplo, observamos que las placas pequeñas son más difíciles de detectar que las placas grandes. Además, el OCR fue evaluado principalmente con placas de Guayaquil, por lo que todavía se requiere ampliar las pruebas a otras ciudades, condiciones nocturnas y escenarios más complejos. Por esta razón, SIRAP no toma decisiones completamente autónomas. Cuando existe una lectura dudosa, el operador puede revisarla y corregirla antes de continuar. También buscamos proteger la privacidad: las imágenes se utilizan únicamente durante el procesamiento y posteriormente se descartan. Para la demostración pública utilizamos datos ficticios y la apertura de la barrera es simulada.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[4:45–5:00 | Cierre]
SIRAP integra detección de placas, reconocimiento de caracteres, validación de reglas y revisión humana en una sola solución. Los resultados muestran que el sistema puede reducir tareas manuales y apoyar al operador en el control de acceso de vehículos. Como siguiente paso, buscamos ampliar las pruebas con videos reales y diferentes condiciones operativas para seguir mejorando su desempeño. En pantalla pueden encontrar los códigos de acceso al repositorio y a la aplicación. Muchas gracias.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IRAP_MASTER">
    <p:bg>
      <p:bgPr>
        <a:solidFill>
          <a:srgbClr val="08172B"/>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2DD4BF"/>
          </a:solidFill>
          <a:ln w="12700">
            <a:solidFill>
              <a:srgbClr val="2DD4BF"/>
            </a:solidFill>
            <a:prstDash val="solid"/>
          </a:ln>
        </p:spPr>
        <p:txBody>
          <a:bodyPr/>
          <a:lstStyle/>
          <a:p>
            <a:endParaRPr lang="es-EC"/>
          </a:p>
        </p:txBody>
      </p:sp>
      <p:sp>
        <p:nvSpPr>
          <p:cNvPr id="3" name="Shape 1"/>
          <p:cNvSpPr/>
          <p:nvPr/>
        </p:nvSpPr>
        <p:spPr>
          <a:xfrm>
            <a:off x="777240" y="1115568"/>
            <a:ext cx="10652760" cy="0"/>
          </a:xfrm>
          <a:prstGeom prst="line">
            <a:avLst/>
          </a:prstGeom>
          <a:noFill/>
          <a:ln w="13970">
            <a:solidFill>
              <a:srgbClr val="223A57"/>
            </a:solidFill>
            <a:prstDash val="solid"/>
          </a:ln>
        </p:spPr>
        <p:txBody>
          <a:bodyPr/>
          <a:lstStyle/>
          <a:p>
            <a:endParaRPr lang="es-EC"/>
          </a:p>
        </p:txBody>
      </p:sp>
      <p:sp>
        <p:nvSpPr>
          <p:cNvPr id="25" name="Slide Number Placeholder 0"/>
          <p:cNvSpPr>
            <a:spLocks noGrp="1"/>
          </p:cNvSpPr>
          <p:nvPr>
            <p:ph type="sldNum" sz="quarter" idx="4294967295"/>
          </p:nvPr>
        </p:nvSpPr>
        <p:spPr>
          <a:xfrm>
            <a:off x="11384280" y="6428232"/>
            <a:ext cx="457200" cy="182880"/>
          </a:xfrm>
          <a:prstGeom prst="rect">
            <a:avLst/>
          </a:prstGeom>
          <a:extLst>
            <a:ext uri="{C572A759-6A51-4108-AA02-DFA0A04FC94B}">
              <ma14:wrappingTextBoxFlag xmlns="" xmlns:ma14="http://schemas.microsoft.com/office/mac/drawingml/2011/main" val="0"/>
            </a:ext>
          </a:extLst>
        </p:spPr>
        <p:txBody>
          <a:bodyPr/>
          <a:lstStyle>
            <a:lvl1pPr>
              <a:defRPr sz="700">
                <a:solidFill>
                  <a:srgbClr val="58708F"/>
                </a:solidFill>
                <a:latin typeface="Aptos"/>
                <a:ea typeface="Aptos"/>
                <a:cs typeface="Aptos"/>
              </a:defRPr>
            </a:lvl1pPr>
          </a:lstStyle>
          <a:p>
            <a:pPr algn="r"/>
            <a:fld id="{F7021451-1387-4CA6-816F-3879F97B5CBC}" type="slidenum">
              <a:rPr lang="en-US" b="0"/>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428232"/>
            <a:ext cx="457200" cy="182880"/>
          </a:xfrm>
          <a:prstGeom prst="rect">
            <a:avLst/>
          </a:prstGeom>
          <a:extLst>
            <a:ext uri="{C572A759-6A51-4108-AA02-DFA0A04FC94B}">
              <ma14:wrappingTextBoxFlag xmlns="" xmlns:ma14="http://schemas.microsoft.com/office/mac/drawingml/2011/main" val="0"/>
            </a:ext>
          </a:extLst>
        </p:spPr>
        <p:txBody>
          <a:bodyPr/>
          <a:lstStyle>
            <a:lvl1pPr>
              <a:defRPr sz="700">
                <a:solidFill>
                  <a:srgbClr val="58708F"/>
                </a:solidFill>
                <a:latin typeface="Aptos"/>
                <a:ea typeface="Aptos"/>
                <a:cs typeface="Aptos"/>
              </a:defRPr>
            </a:lvl1pPr>
          </a:lstStyle>
          <a:p>
            <a:pPr algn="r"/>
            <a:fld id="{F7021451-1387-4CA6-816F-3879F97B5CBC}" type="slidenum">
              <a:rPr lang="en-US" b="0"/>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3.png"/><Relationship Id="rId5" Type="http://schemas.openxmlformats.org/officeDocument/2006/relationships/image" Target="../media/image1.jp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6" name="Picture 25" descr="73ea2217-3aa7-5ba4-8da8-6a1c1835f362.jpg"/>
          <p:cNvPicPr>
            <a:picLocks noChangeAspect="1"/>
          </p:cNvPicPr>
          <p:nvPr/>
        </p:nvPicPr>
        <p:blipFill>
          <a:blip r:embed="rId3"/>
          <a:stretch>
            <a:fillRect/>
          </a:stretch>
        </p:blipFill>
        <p:spPr>
          <a:xfrm>
            <a:off x="0" y="0"/>
            <a:ext cx="12192000" cy="6858000"/>
          </a:xfrm>
          <a:prstGeom prst="rect">
            <a:avLst/>
          </a:prstGeom>
        </p:spPr>
      </p:pic>
      <p:sp>
        <p:nvSpPr>
          <p:cNvPr id="2" name="Text 0"/>
          <p:cNvSpPr/>
          <p:nvPr/>
        </p:nvSpPr>
        <p:spPr>
          <a:xfrm>
            <a:off x="804672" y="658368"/>
            <a:ext cx="3931920" cy="594360"/>
          </a:xfrm>
          <a:prstGeom prst="rect">
            <a:avLst/>
          </a:prstGeom>
          <a:noFill/>
          <a:ln/>
        </p:spPr>
        <p:txBody>
          <a:bodyPr wrap="square" lIns="0" tIns="0" rIns="0" bIns="0" rtlCol="0" anchor="ctr"/>
          <a:lstStyle/>
          <a:p>
            <a:pPr marL="0" indent="0">
              <a:buNone/>
            </a:pPr>
            <a:r>
              <a:rPr lang="en-US" sz="3200" b="1" dirty="0">
                <a:solidFill>
                  <a:srgbClr val="F8FAFC"/>
                </a:solidFill>
              </a:rPr>
              <a:t>SIRAP</a:t>
            </a:r>
            <a:endParaRPr lang="en-US" sz="3200" dirty="0"/>
          </a:p>
        </p:txBody>
      </p:sp>
      <p:sp>
        <p:nvSpPr>
          <p:cNvPr id="3" name="Text 1"/>
          <p:cNvSpPr/>
          <p:nvPr/>
        </p:nvSpPr>
        <p:spPr>
          <a:xfrm>
            <a:off x="804672" y="1389888"/>
            <a:ext cx="5303520" cy="658368"/>
          </a:xfrm>
          <a:prstGeom prst="rect">
            <a:avLst/>
          </a:prstGeom>
          <a:noFill/>
          <a:ln/>
        </p:spPr>
        <p:txBody>
          <a:bodyPr wrap="square" lIns="0" tIns="0" rIns="0" bIns="0" rtlCol="0" anchor="ctr"/>
          <a:lstStyle/>
          <a:p>
            <a:pPr marL="0" indent="0">
              <a:buNone/>
            </a:pPr>
            <a:r>
              <a:rPr lang="en-US" sz="2400" b="1" dirty="0">
                <a:solidFill>
                  <a:srgbClr val="D7E1EE"/>
                </a:solidFill>
              </a:rPr>
              <a:t>Sistema de Detección y Reconocimiento Automático de Placas</a:t>
            </a:r>
            <a:endParaRPr lang="en-US" sz="2400" dirty="0"/>
          </a:p>
        </p:txBody>
      </p:sp>
      <p:sp>
        <p:nvSpPr>
          <p:cNvPr id="4" name="Text 2"/>
          <p:cNvSpPr/>
          <p:nvPr/>
        </p:nvSpPr>
        <p:spPr>
          <a:xfrm>
            <a:off x="804672" y="2468880"/>
            <a:ext cx="3657913" cy="566928"/>
          </a:xfrm>
          <a:prstGeom prst="rect">
            <a:avLst/>
          </a:prstGeom>
          <a:noFill/>
          <a:ln/>
        </p:spPr>
        <p:txBody>
          <a:bodyPr wrap="square" lIns="0" tIns="0" rIns="0" bIns="0" rtlCol="0" anchor="ctr"/>
          <a:lstStyle/>
          <a:p>
            <a:pPr marL="0" indent="0">
              <a:buNone/>
            </a:pPr>
            <a:r>
              <a:rPr lang="en-US" dirty="0">
                <a:solidFill>
                  <a:srgbClr val="9BAEC5"/>
                </a:solidFill>
              </a:rPr>
              <a:t>Del control manual en garita a una lectura asistida, trazable y revisable.</a:t>
            </a:r>
            <a:endParaRPr lang="en-US" dirty="0"/>
          </a:p>
        </p:txBody>
      </p:sp>
      <p:sp>
        <p:nvSpPr>
          <p:cNvPr id="5" name="Shape 3"/>
          <p:cNvSpPr/>
          <p:nvPr/>
        </p:nvSpPr>
        <p:spPr>
          <a:xfrm>
            <a:off x="804672" y="3072384"/>
            <a:ext cx="4846320" cy="0"/>
          </a:xfrm>
          <a:prstGeom prst="line">
            <a:avLst/>
          </a:prstGeom>
          <a:noFill/>
          <a:ln w="15240">
            <a:solidFill>
              <a:srgbClr val="223A57"/>
            </a:solidFill>
            <a:prstDash val="solid"/>
          </a:ln>
        </p:spPr>
        <p:txBody>
          <a:bodyPr/>
          <a:lstStyle/>
          <a:p>
            <a:endParaRPr lang="es-EC"/>
          </a:p>
        </p:txBody>
      </p:sp>
      <p:sp>
        <p:nvSpPr>
          <p:cNvPr id="6" name="Shape 4"/>
          <p:cNvSpPr/>
          <p:nvPr/>
        </p:nvSpPr>
        <p:spPr>
          <a:xfrm>
            <a:off x="804672" y="3364992"/>
            <a:ext cx="1600200" cy="329184"/>
          </a:xfrm>
          <a:prstGeom prst="roundRect">
            <a:avLst>
              <a:gd name="adj" fmla="val 19444"/>
            </a:avLst>
          </a:prstGeom>
          <a:solidFill>
            <a:srgbClr val="F4B942">
              <a:alpha val="18000"/>
            </a:srgbClr>
          </a:solidFill>
          <a:ln w="12700">
            <a:solidFill>
              <a:srgbClr val="F4B942">
                <a:alpha val="80000"/>
              </a:srgbClr>
            </a:solidFill>
            <a:prstDash val="solid"/>
          </a:ln>
        </p:spPr>
        <p:txBody>
          <a:bodyPr/>
          <a:lstStyle/>
          <a:p>
            <a:endParaRPr lang="es-EC"/>
          </a:p>
        </p:txBody>
      </p:sp>
      <p:sp>
        <p:nvSpPr>
          <p:cNvPr id="7" name="Text 5"/>
          <p:cNvSpPr/>
          <p:nvPr/>
        </p:nvSpPr>
        <p:spPr>
          <a:xfrm>
            <a:off x="877824" y="3438144"/>
            <a:ext cx="1453896" cy="146304"/>
          </a:xfrm>
          <a:prstGeom prst="rect">
            <a:avLst/>
          </a:prstGeom>
          <a:noFill/>
          <a:ln/>
        </p:spPr>
        <p:txBody>
          <a:bodyPr wrap="square" lIns="0" tIns="0" rIns="0" bIns="0" rtlCol="0" anchor="ctr"/>
          <a:lstStyle/>
          <a:p>
            <a:pPr marL="0" indent="0" algn="ctr">
              <a:buNone/>
            </a:pPr>
            <a:r>
              <a:rPr lang="en-US" sz="830" b="1" dirty="0">
                <a:solidFill>
                  <a:srgbClr val="F4B942"/>
                </a:solidFill>
              </a:rPr>
              <a:t>PITCH PROMOCIONAL</a:t>
            </a:r>
            <a:endParaRPr lang="en-US" sz="830" dirty="0"/>
          </a:p>
        </p:txBody>
      </p:sp>
      <p:sp>
        <p:nvSpPr>
          <p:cNvPr id="8" name="Text 6"/>
          <p:cNvSpPr/>
          <p:nvPr/>
        </p:nvSpPr>
        <p:spPr>
          <a:xfrm>
            <a:off x="804672" y="3895344"/>
            <a:ext cx="4297680" cy="658368"/>
          </a:xfrm>
          <a:prstGeom prst="rect">
            <a:avLst/>
          </a:prstGeom>
          <a:noFill/>
          <a:ln/>
        </p:spPr>
        <p:txBody>
          <a:bodyPr wrap="square" lIns="0" tIns="0" rIns="0" bIns="0" rtlCol="0" anchor="ctr"/>
          <a:lstStyle/>
          <a:p>
            <a:pPr marL="0" indent="0">
              <a:buNone/>
            </a:pPr>
            <a:r>
              <a:rPr lang="en-US" sz="2000" b="1" dirty="0">
                <a:solidFill>
                  <a:srgbClr val="D7E1EE"/>
                </a:solidFill>
              </a:rPr>
              <a:t>Eduardo Alejandro Ceballos Jijón</a:t>
            </a:r>
            <a:endParaRPr lang="en-US" sz="2000" dirty="0"/>
          </a:p>
          <a:p>
            <a:pPr marL="0" indent="0">
              <a:buNone/>
            </a:pPr>
            <a:r>
              <a:rPr lang="en-US" sz="2000" b="1" dirty="0">
                <a:solidFill>
                  <a:srgbClr val="D7E1EE"/>
                </a:solidFill>
              </a:rPr>
              <a:t>Christian Xavier Valle Maridueña</a:t>
            </a:r>
            <a:endParaRPr lang="en-US" sz="2000" dirty="0"/>
          </a:p>
        </p:txBody>
      </p:sp>
      <p:sp>
        <p:nvSpPr>
          <p:cNvPr id="9" name="Text 7"/>
          <p:cNvSpPr/>
          <p:nvPr/>
        </p:nvSpPr>
        <p:spPr>
          <a:xfrm>
            <a:off x="804672" y="5074920"/>
            <a:ext cx="5029200" cy="256032"/>
          </a:xfrm>
          <a:prstGeom prst="rect">
            <a:avLst/>
          </a:prstGeom>
          <a:noFill/>
          <a:ln/>
        </p:spPr>
        <p:txBody>
          <a:bodyPr wrap="square" lIns="0" tIns="0" rIns="0" bIns="0" rtlCol="0" anchor="ctr"/>
          <a:lstStyle/>
          <a:p>
            <a:pPr marL="0" indent="0">
              <a:buNone/>
            </a:pPr>
            <a:r>
              <a:rPr lang="en-US" sz="850" dirty="0">
                <a:solidFill>
                  <a:srgbClr val="9BAEC5"/>
                </a:solidFill>
              </a:rPr>
              <a:t>Problema real · decisión humana · evidencia medible</a:t>
            </a:r>
            <a:endParaRPr lang="en-US" sz="850" dirty="0"/>
          </a:p>
        </p:txBody>
      </p:sp>
      <p:sp>
        <p:nvSpPr>
          <p:cNvPr id="10" name="Shape 8"/>
          <p:cNvSpPr/>
          <p:nvPr/>
        </p:nvSpPr>
        <p:spPr>
          <a:xfrm>
            <a:off x="7818120" y="960120"/>
            <a:ext cx="3063240" cy="3063240"/>
          </a:xfrm>
          <a:prstGeom prst="ellipse">
            <a:avLst/>
          </a:prstGeom>
          <a:solidFill>
            <a:srgbClr val="102B4A">
              <a:alpha val="68000"/>
            </a:srgbClr>
          </a:solidFill>
          <a:ln w="15240">
            <a:solidFill>
              <a:srgbClr val="2C4665"/>
            </a:solidFill>
            <a:prstDash val="solid"/>
          </a:ln>
        </p:spPr>
        <p:txBody>
          <a:bodyPr/>
          <a:lstStyle/>
          <a:p>
            <a:endParaRPr lang="es-EC"/>
          </a:p>
        </p:txBody>
      </p:sp>
      <p:sp>
        <p:nvSpPr>
          <p:cNvPr id="11" name="Shape 9"/>
          <p:cNvSpPr/>
          <p:nvPr/>
        </p:nvSpPr>
        <p:spPr>
          <a:xfrm>
            <a:off x="8394192" y="1536192"/>
            <a:ext cx="1920240" cy="1920240"/>
          </a:xfrm>
          <a:prstGeom prst="ellipse">
            <a:avLst/>
          </a:prstGeom>
          <a:solidFill>
            <a:srgbClr val="1D3657">
              <a:alpha val="88000"/>
            </a:srgbClr>
          </a:solidFill>
          <a:ln w="12700">
            <a:solidFill>
              <a:srgbClr val="1D3657">
                <a:alpha val="0"/>
              </a:srgbClr>
            </a:solidFill>
            <a:prstDash val="solid"/>
          </a:ln>
        </p:spPr>
        <p:txBody>
          <a:bodyPr/>
          <a:lstStyle/>
          <a:p>
            <a:endParaRPr lang="es-EC"/>
          </a:p>
        </p:txBody>
      </p:sp>
      <p:sp>
        <p:nvSpPr>
          <p:cNvPr id="12" name="Shape 10"/>
          <p:cNvSpPr/>
          <p:nvPr/>
        </p:nvSpPr>
        <p:spPr>
          <a:xfrm>
            <a:off x="7406640" y="530352"/>
            <a:ext cx="3840480" cy="3840480"/>
          </a:xfrm>
          <a:prstGeom prst="arc">
            <a:avLst/>
          </a:prstGeom>
          <a:solidFill>
            <a:srgbClr val="08172B">
              <a:alpha val="0"/>
            </a:srgbClr>
          </a:solidFill>
          <a:ln w="50800">
            <a:solidFill>
              <a:srgbClr val="2DD4BF">
                <a:alpha val="90000"/>
              </a:srgbClr>
            </a:solidFill>
            <a:prstDash val="solid"/>
          </a:ln>
        </p:spPr>
        <p:txBody>
          <a:bodyPr/>
          <a:lstStyle/>
          <a:p>
            <a:endParaRPr lang="es-EC"/>
          </a:p>
        </p:txBody>
      </p:sp>
      <p:sp>
        <p:nvSpPr>
          <p:cNvPr id="25" name="Slide Number Placeholder 0"/>
          <p:cNvSpPr>
            <a:spLocks noGrp="1"/>
          </p:cNvSpPr>
          <p:nvPr>
            <p:ph type="sldNum" sz="quarter" idx="4294967295"/>
          </p:nvPr>
        </p:nvSpPr>
        <p:spPr>
          <a:xfrm>
            <a:off x="11384280" y="6428232"/>
            <a:ext cx="457200" cy="182880"/>
          </a:xfrm>
          <a:prstGeom prst="rect">
            <a:avLst/>
          </a:prstGeom>
          <a:extLst>
            <a:ext uri="{C572A759-6A51-4108-AA02-DFA0A04FC94B}">
              <ma14:wrappingTextBoxFlag xmlns="" xmlns:ma14="http://schemas.microsoft.com/office/mac/drawingml/2011/main" val="0"/>
            </a:ext>
          </a:extLst>
        </p:spPr>
        <p:txBody>
          <a:bodyPr/>
          <a:lstStyle>
            <a:lvl1pPr>
              <a:defRPr sz="700">
                <a:solidFill>
                  <a:srgbClr val="58708F"/>
                </a:solidFill>
                <a:latin typeface="Aptos"/>
                <a:ea typeface="Aptos"/>
                <a:cs typeface="Aptos"/>
              </a:defRPr>
            </a:lvl1pPr>
          </a:lstStyle>
          <a:p>
            <a:pPr algn="r"/>
            <a:fld id="{F7021451-1387-4CA6-816F-3879F97B5CBC}" type="slidenum">
              <a:rPr lang="en-US" b="0"/>
              <a:t>1</a:t>
            </a:fld>
            <a:endParaRPr lang="en-US"/>
          </a:p>
        </p:txBody>
      </p:sp>
      <p:pic>
        <p:nvPicPr>
          <p:cNvPr id="15" name="Imagen 14">
            <a:extLst>
              <a:ext uri="{FF2B5EF4-FFF2-40B4-BE49-F238E27FC236}">
                <a16:creationId xmlns:a16="http://schemas.microsoft.com/office/drawing/2014/main" id="{3FAF8258-F3C4-6272-B5BF-643537C1BD22}"/>
              </a:ext>
            </a:extLst>
          </p:cNvPr>
          <p:cNvPicPr>
            <a:picLocks noChangeAspect="1"/>
          </p:cNvPicPr>
          <p:nvPr/>
        </p:nvPicPr>
        <p:blipFill>
          <a:blip r:embed="rId4"/>
          <a:stretch>
            <a:fillRect/>
          </a:stretch>
        </p:blipFill>
        <p:spPr>
          <a:xfrm>
            <a:off x="4650155" y="2117844"/>
            <a:ext cx="7439212" cy="414227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9" name="Picture 38" descr="73ea2217-3aa7-5ba4-8da8-6a1c1835f362.jpg"/>
          <p:cNvPicPr>
            <a:picLocks noChangeAspect="1"/>
          </p:cNvPicPr>
          <p:nvPr/>
        </p:nvPicPr>
        <p:blipFill>
          <a:blip r:embed="rId3"/>
          <a:stretch>
            <a:fillRect/>
          </a:stretch>
        </p:blipFill>
        <p:spPr>
          <a:xfrm>
            <a:off x="0" y="0"/>
            <a:ext cx="12192000" cy="6858000"/>
          </a:xfrm>
          <a:prstGeom prst="rect">
            <a:avLst/>
          </a:prstGeom>
        </p:spPr>
      </p:pic>
      <p:sp>
        <p:nvSpPr>
          <p:cNvPr id="2" name="Text 0"/>
          <p:cNvSpPr/>
          <p:nvPr/>
        </p:nvSpPr>
        <p:spPr>
          <a:xfrm>
            <a:off x="777240" y="320040"/>
            <a:ext cx="7132320" cy="201168"/>
          </a:xfrm>
          <a:prstGeom prst="rect">
            <a:avLst/>
          </a:prstGeom>
          <a:noFill/>
          <a:ln/>
        </p:spPr>
        <p:txBody>
          <a:bodyPr wrap="square" lIns="0" tIns="0" rIns="0" bIns="0" rtlCol="0" anchor="ctr"/>
          <a:lstStyle/>
          <a:p>
            <a:pPr marL="0" indent="0">
              <a:buNone/>
            </a:pPr>
            <a:r>
              <a:rPr lang="en-US" sz="1200" b="1" kern="0" spc="80" dirty="0">
                <a:solidFill>
                  <a:srgbClr val="9BAEC5"/>
                </a:solidFill>
                <a:latin typeface="Aptos" pitchFamily="34" charset="0"/>
                <a:ea typeface="Aptos" pitchFamily="34" charset="-122"/>
                <a:cs typeface="Aptos" pitchFamily="34" charset="-120"/>
              </a:rPr>
              <a:t>DE LA IMAGEN A UNA DECISIÓN CLARA</a:t>
            </a:r>
            <a:endParaRPr lang="en-US" sz="1200" dirty="0"/>
          </a:p>
        </p:txBody>
      </p:sp>
      <p:sp>
        <p:nvSpPr>
          <p:cNvPr id="3" name="Text 1"/>
          <p:cNvSpPr/>
          <p:nvPr/>
        </p:nvSpPr>
        <p:spPr>
          <a:xfrm>
            <a:off x="777240" y="603504"/>
            <a:ext cx="8046720" cy="420624"/>
          </a:xfrm>
          <a:prstGeom prst="rect">
            <a:avLst/>
          </a:prstGeom>
          <a:noFill/>
          <a:ln/>
        </p:spPr>
        <p:txBody>
          <a:bodyPr wrap="square" lIns="0" tIns="0" rIns="0" bIns="0" rtlCol="0" anchor="ctr"/>
          <a:lstStyle/>
          <a:p>
            <a:pPr marL="0" indent="0">
              <a:buNone/>
            </a:pPr>
            <a:r>
              <a:rPr lang="en-US" sz="2800" b="1" dirty="0">
                <a:solidFill>
                  <a:srgbClr val="F8FAFC"/>
                </a:solidFill>
                <a:latin typeface="Aptos Display" pitchFamily="34" charset="0"/>
                <a:ea typeface="Aptos Display" pitchFamily="34" charset="-122"/>
                <a:cs typeface="Aptos Display" pitchFamily="34" charset="-120"/>
              </a:rPr>
              <a:t>Datos y cómo funciona la IA</a:t>
            </a:r>
            <a:endParaRPr lang="en-US" sz="2800" dirty="0"/>
          </a:p>
        </p:txBody>
      </p:sp>
      <p:sp>
        <p:nvSpPr>
          <p:cNvPr id="4" name="Text 2"/>
          <p:cNvSpPr/>
          <p:nvPr/>
        </p:nvSpPr>
        <p:spPr>
          <a:xfrm>
            <a:off x="10817352" y="393192"/>
            <a:ext cx="640080" cy="201168"/>
          </a:xfrm>
          <a:prstGeom prst="rect">
            <a:avLst/>
          </a:prstGeom>
          <a:noFill/>
          <a:ln/>
        </p:spPr>
        <p:txBody>
          <a:bodyPr wrap="square" lIns="0" tIns="0" rIns="0" bIns="0" rtlCol="0" anchor="ctr"/>
          <a:lstStyle/>
          <a:p>
            <a:pPr marL="0" indent="0" algn="r">
              <a:buNone/>
            </a:pPr>
            <a:r>
              <a:rPr lang="en-US" sz="1200" b="1" dirty="0">
                <a:solidFill>
                  <a:srgbClr val="F4B942"/>
                </a:solidFill>
                <a:latin typeface="Aptos" pitchFamily="34" charset="0"/>
                <a:ea typeface="Aptos" pitchFamily="34" charset="-122"/>
                <a:cs typeface="Aptos" pitchFamily="34" charset="-120"/>
              </a:rPr>
              <a:t>01:00</a:t>
            </a:r>
            <a:endParaRPr lang="en-US" sz="1200" dirty="0"/>
          </a:p>
        </p:txBody>
      </p:sp>
      <p:sp>
        <p:nvSpPr>
          <p:cNvPr id="5" name="Text 3"/>
          <p:cNvSpPr/>
          <p:nvPr/>
        </p:nvSpPr>
        <p:spPr>
          <a:xfrm>
            <a:off x="10607040" y="768096"/>
            <a:ext cx="841248" cy="182880"/>
          </a:xfrm>
          <a:prstGeom prst="rect">
            <a:avLst/>
          </a:prstGeom>
          <a:noFill/>
          <a:ln/>
        </p:spPr>
        <p:txBody>
          <a:bodyPr wrap="square" lIns="0" tIns="0" rIns="0" bIns="0" rtlCol="0" anchor="ctr"/>
          <a:lstStyle/>
          <a:p>
            <a:pPr marL="0" indent="0" algn="r">
              <a:buNone/>
            </a:pPr>
            <a:r>
              <a:rPr lang="en-US" sz="1100" dirty="0">
                <a:solidFill>
                  <a:srgbClr val="607792"/>
                </a:solidFill>
                <a:latin typeface="Aptos" pitchFamily="34" charset="0"/>
                <a:ea typeface="Aptos" pitchFamily="34" charset="-122"/>
                <a:cs typeface="Aptos" pitchFamily="34" charset="-120"/>
              </a:rPr>
              <a:t>02 / 08</a:t>
            </a:r>
            <a:endParaRPr lang="en-US" sz="1100" dirty="0"/>
          </a:p>
        </p:txBody>
      </p:sp>
      <p:sp>
        <p:nvSpPr>
          <p:cNvPr id="6" name="Text 4"/>
          <p:cNvSpPr/>
          <p:nvPr/>
        </p:nvSpPr>
        <p:spPr>
          <a:xfrm>
            <a:off x="822960" y="1389888"/>
            <a:ext cx="1097280" cy="219456"/>
          </a:xfrm>
          <a:prstGeom prst="rect">
            <a:avLst/>
          </a:prstGeom>
          <a:noFill/>
          <a:ln/>
        </p:spPr>
        <p:txBody>
          <a:bodyPr wrap="square" lIns="0" tIns="0" rIns="0" bIns="0" rtlCol="0" anchor="ctr"/>
          <a:lstStyle/>
          <a:p>
            <a:pPr marL="0" indent="0">
              <a:buNone/>
            </a:pPr>
            <a:r>
              <a:rPr lang="en-US" sz="1400" b="1" dirty="0">
                <a:solidFill>
                  <a:srgbClr val="9BAEC5"/>
                </a:solidFill>
              </a:rPr>
              <a:t>DATOS</a:t>
            </a:r>
            <a:endParaRPr lang="en-US" sz="1400" dirty="0"/>
          </a:p>
        </p:txBody>
      </p:sp>
      <p:sp>
        <p:nvSpPr>
          <p:cNvPr id="7" name="Text 5"/>
          <p:cNvSpPr/>
          <p:nvPr/>
        </p:nvSpPr>
        <p:spPr>
          <a:xfrm>
            <a:off x="822960" y="1737360"/>
            <a:ext cx="1920240" cy="457200"/>
          </a:xfrm>
          <a:prstGeom prst="rect">
            <a:avLst/>
          </a:prstGeom>
          <a:noFill/>
          <a:ln/>
        </p:spPr>
        <p:txBody>
          <a:bodyPr wrap="square" lIns="0" tIns="0" rIns="0" bIns="0" rtlCol="0" anchor="ctr"/>
          <a:lstStyle/>
          <a:p>
            <a:pPr marL="0" indent="0">
              <a:buNone/>
            </a:pPr>
            <a:r>
              <a:rPr lang="en-US" sz="4400" b="1" dirty="0">
                <a:solidFill>
                  <a:srgbClr val="F8FAFC"/>
                </a:solidFill>
              </a:rPr>
              <a:t>10.125</a:t>
            </a:r>
            <a:endParaRPr lang="en-US" sz="4400" dirty="0"/>
          </a:p>
        </p:txBody>
      </p:sp>
      <p:sp>
        <p:nvSpPr>
          <p:cNvPr id="8" name="Text 6"/>
          <p:cNvSpPr/>
          <p:nvPr/>
        </p:nvSpPr>
        <p:spPr>
          <a:xfrm>
            <a:off x="822960" y="2231136"/>
            <a:ext cx="1920240" cy="384048"/>
          </a:xfrm>
          <a:prstGeom prst="rect">
            <a:avLst/>
          </a:prstGeom>
          <a:noFill/>
          <a:ln/>
        </p:spPr>
        <p:txBody>
          <a:bodyPr wrap="square" lIns="0" tIns="0" rIns="0" bIns="0" rtlCol="0" anchor="ctr"/>
          <a:lstStyle/>
          <a:p>
            <a:pPr marL="0" indent="0">
              <a:buNone/>
            </a:pPr>
            <a:r>
              <a:rPr lang="en-US" sz="1400" b="1" dirty="0">
                <a:solidFill>
                  <a:srgbClr val="D7E1EE"/>
                </a:solidFill>
              </a:rPr>
              <a:t>imágenes para entrenar / validar / probar</a:t>
            </a:r>
            <a:endParaRPr lang="en-US" sz="1400" dirty="0"/>
          </a:p>
        </p:txBody>
      </p:sp>
      <p:sp>
        <p:nvSpPr>
          <p:cNvPr id="9" name="Text 7"/>
          <p:cNvSpPr/>
          <p:nvPr/>
        </p:nvSpPr>
        <p:spPr>
          <a:xfrm>
            <a:off x="822960" y="2642616"/>
            <a:ext cx="1920240" cy="292608"/>
          </a:xfrm>
          <a:prstGeom prst="rect">
            <a:avLst/>
          </a:prstGeom>
          <a:noFill/>
          <a:ln/>
        </p:spPr>
        <p:txBody>
          <a:bodyPr wrap="square" lIns="0" tIns="0" rIns="0" bIns="0" rtlCol="0" anchor="ctr"/>
          <a:lstStyle/>
          <a:p>
            <a:pPr marL="0" indent="0">
              <a:buNone/>
            </a:pPr>
            <a:r>
              <a:rPr lang="en-US" sz="1100" dirty="0">
                <a:solidFill>
                  <a:srgbClr val="9BAEC5"/>
                </a:solidFill>
              </a:rPr>
              <a:t>7.057 / 2.048 / 1.020</a:t>
            </a:r>
            <a:endParaRPr lang="en-US" sz="1100" dirty="0"/>
          </a:p>
        </p:txBody>
      </p:sp>
      <p:sp>
        <p:nvSpPr>
          <p:cNvPr id="10" name="Text 8"/>
          <p:cNvSpPr/>
          <p:nvPr/>
        </p:nvSpPr>
        <p:spPr>
          <a:xfrm>
            <a:off x="2926080" y="1737360"/>
            <a:ext cx="2057400" cy="457200"/>
          </a:xfrm>
          <a:prstGeom prst="rect">
            <a:avLst/>
          </a:prstGeom>
          <a:noFill/>
          <a:ln/>
        </p:spPr>
        <p:txBody>
          <a:bodyPr wrap="square" lIns="0" tIns="0" rIns="0" bIns="0" rtlCol="0" anchor="ctr"/>
          <a:lstStyle/>
          <a:p>
            <a:pPr marL="0" indent="0">
              <a:buNone/>
            </a:pPr>
            <a:r>
              <a:rPr lang="en-US" sz="4400" b="1" dirty="0">
                <a:solidFill>
                  <a:srgbClr val="F8FAFC"/>
                </a:solidFill>
              </a:rPr>
              <a:t>739</a:t>
            </a:r>
            <a:endParaRPr lang="en-US" sz="4400" dirty="0"/>
          </a:p>
        </p:txBody>
      </p:sp>
      <p:sp>
        <p:nvSpPr>
          <p:cNvPr id="11" name="Text 9"/>
          <p:cNvSpPr/>
          <p:nvPr/>
        </p:nvSpPr>
        <p:spPr>
          <a:xfrm>
            <a:off x="2926080" y="2231136"/>
            <a:ext cx="2057400" cy="384048"/>
          </a:xfrm>
          <a:prstGeom prst="rect">
            <a:avLst/>
          </a:prstGeom>
          <a:noFill/>
          <a:ln/>
        </p:spPr>
        <p:txBody>
          <a:bodyPr wrap="square" lIns="0" tIns="0" rIns="0" bIns="0" rtlCol="0" anchor="ctr"/>
          <a:lstStyle/>
          <a:p>
            <a:pPr marL="0" indent="0">
              <a:buNone/>
            </a:pPr>
            <a:r>
              <a:rPr lang="en-US" sz="1400" b="1" dirty="0">
                <a:solidFill>
                  <a:srgbClr val="D7E1EE"/>
                </a:solidFill>
              </a:rPr>
              <a:t>recortes de placas para evaluar OCR</a:t>
            </a:r>
            <a:endParaRPr lang="en-US" sz="1400" dirty="0"/>
          </a:p>
        </p:txBody>
      </p:sp>
      <p:sp>
        <p:nvSpPr>
          <p:cNvPr id="12" name="Text 10"/>
          <p:cNvSpPr/>
          <p:nvPr/>
        </p:nvSpPr>
        <p:spPr>
          <a:xfrm>
            <a:off x="2926080" y="2642616"/>
            <a:ext cx="2057400" cy="292608"/>
          </a:xfrm>
          <a:prstGeom prst="rect">
            <a:avLst/>
          </a:prstGeom>
          <a:noFill/>
          <a:ln/>
        </p:spPr>
        <p:txBody>
          <a:bodyPr wrap="square" lIns="0" tIns="0" rIns="0" bIns="0" rtlCol="0" anchor="ctr"/>
          <a:lstStyle/>
          <a:p>
            <a:pPr marL="0" indent="0">
              <a:buNone/>
            </a:pPr>
            <a:r>
              <a:rPr lang="en-US" sz="1100" dirty="0">
                <a:solidFill>
                  <a:srgbClr val="9BAEC5"/>
                </a:solidFill>
              </a:rPr>
              <a:t>472 fueron considerados legibles</a:t>
            </a:r>
            <a:endParaRPr lang="en-US" sz="1100" dirty="0"/>
          </a:p>
        </p:txBody>
      </p:sp>
      <p:sp>
        <p:nvSpPr>
          <p:cNvPr id="13" name="Shape 11"/>
          <p:cNvSpPr/>
          <p:nvPr/>
        </p:nvSpPr>
        <p:spPr>
          <a:xfrm>
            <a:off x="822960" y="3063240"/>
            <a:ext cx="4160520" cy="0"/>
          </a:xfrm>
          <a:prstGeom prst="line">
            <a:avLst/>
          </a:prstGeom>
          <a:noFill/>
          <a:ln w="12700">
            <a:solidFill>
              <a:srgbClr val="223A57"/>
            </a:solidFill>
            <a:prstDash val="solid"/>
          </a:ln>
        </p:spPr>
        <p:txBody>
          <a:bodyPr/>
          <a:lstStyle/>
          <a:p>
            <a:endParaRPr lang="es-EC" sz="3600"/>
          </a:p>
        </p:txBody>
      </p:sp>
      <p:sp>
        <p:nvSpPr>
          <p:cNvPr id="14" name="Text 12"/>
          <p:cNvSpPr/>
          <p:nvPr/>
        </p:nvSpPr>
        <p:spPr>
          <a:xfrm>
            <a:off x="822960" y="3273552"/>
            <a:ext cx="1828800" cy="219456"/>
          </a:xfrm>
          <a:prstGeom prst="rect">
            <a:avLst/>
          </a:prstGeom>
          <a:noFill/>
          <a:ln/>
        </p:spPr>
        <p:txBody>
          <a:bodyPr wrap="square" lIns="0" tIns="0" rIns="0" bIns="0" rtlCol="0" anchor="ctr"/>
          <a:lstStyle/>
          <a:p>
            <a:pPr marL="0" indent="0">
              <a:buNone/>
            </a:pPr>
            <a:r>
              <a:rPr lang="en-US" sz="1400" b="1" dirty="0">
                <a:solidFill>
                  <a:srgbClr val="9BAEC5"/>
                </a:solidFill>
              </a:rPr>
              <a:t>PREPROCESAMIENTO</a:t>
            </a:r>
            <a:endParaRPr lang="en-US" sz="1400" dirty="0"/>
          </a:p>
        </p:txBody>
      </p:sp>
      <p:sp>
        <p:nvSpPr>
          <p:cNvPr id="15" name="Shape 13"/>
          <p:cNvSpPr/>
          <p:nvPr/>
        </p:nvSpPr>
        <p:spPr>
          <a:xfrm>
            <a:off x="822960" y="3511297"/>
            <a:ext cx="2193778" cy="830146"/>
          </a:xfrm>
          <a:prstGeom prst="roundRect">
            <a:avLst>
              <a:gd name="adj" fmla="val 19444"/>
            </a:avLst>
          </a:prstGeom>
          <a:solidFill>
            <a:srgbClr val="60A5FA">
              <a:alpha val="18000"/>
            </a:srgbClr>
          </a:solidFill>
          <a:ln w="12700">
            <a:solidFill>
              <a:srgbClr val="60A5FA">
                <a:alpha val="80000"/>
              </a:srgbClr>
            </a:solidFill>
            <a:prstDash val="solid"/>
          </a:ln>
        </p:spPr>
        <p:txBody>
          <a:bodyPr/>
          <a:lstStyle/>
          <a:p>
            <a:endParaRPr lang="es-EC" sz="3600"/>
          </a:p>
        </p:txBody>
      </p:sp>
      <p:sp>
        <p:nvSpPr>
          <p:cNvPr id="16" name="Text 14"/>
          <p:cNvSpPr/>
          <p:nvPr/>
        </p:nvSpPr>
        <p:spPr>
          <a:xfrm>
            <a:off x="896112" y="3730752"/>
            <a:ext cx="2029968" cy="146304"/>
          </a:xfrm>
          <a:prstGeom prst="rect">
            <a:avLst/>
          </a:prstGeom>
          <a:noFill/>
          <a:ln/>
        </p:spPr>
        <p:txBody>
          <a:bodyPr wrap="square" lIns="0" tIns="0" rIns="0" bIns="0" rtlCol="0" anchor="ctr"/>
          <a:lstStyle/>
          <a:p>
            <a:pPr marL="0" indent="0" algn="ctr">
              <a:buNone/>
            </a:pPr>
            <a:r>
              <a:rPr lang="en-US" sz="1400" b="1" dirty="0">
                <a:solidFill>
                  <a:srgbClr val="60A5FA"/>
                </a:solidFill>
              </a:rPr>
              <a:t>640 px · </a:t>
            </a:r>
            <a:r>
              <a:rPr lang="en-US" sz="2400" b="1" dirty="0">
                <a:solidFill>
                  <a:srgbClr val="60A5FA"/>
                </a:solidFill>
              </a:rPr>
              <a:t>conserva</a:t>
            </a:r>
            <a:r>
              <a:rPr lang="en-US" sz="1400" b="1" dirty="0">
                <a:solidFill>
                  <a:srgbClr val="60A5FA"/>
                </a:solidFill>
              </a:rPr>
              <a:t> </a:t>
            </a:r>
            <a:r>
              <a:rPr lang="en-US" sz="2000" b="1" dirty="0">
                <a:solidFill>
                  <a:srgbClr val="60A5FA"/>
                </a:solidFill>
              </a:rPr>
              <a:t>proporción</a:t>
            </a:r>
            <a:endParaRPr lang="en-US" sz="1400" dirty="0"/>
          </a:p>
        </p:txBody>
      </p:sp>
      <p:sp>
        <p:nvSpPr>
          <p:cNvPr id="17" name="Shape 15"/>
          <p:cNvSpPr/>
          <p:nvPr/>
        </p:nvSpPr>
        <p:spPr>
          <a:xfrm>
            <a:off x="3089890" y="3537478"/>
            <a:ext cx="1908126" cy="830465"/>
          </a:xfrm>
          <a:prstGeom prst="roundRect">
            <a:avLst>
              <a:gd name="adj" fmla="val 19444"/>
            </a:avLst>
          </a:prstGeom>
          <a:solidFill>
            <a:srgbClr val="F4B942">
              <a:alpha val="18000"/>
            </a:srgbClr>
          </a:solidFill>
          <a:ln w="12700">
            <a:solidFill>
              <a:srgbClr val="F4B942">
                <a:alpha val="80000"/>
              </a:srgbClr>
            </a:solidFill>
            <a:prstDash val="solid"/>
          </a:ln>
        </p:spPr>
        <p:txBody>
          <a:bodyPr/>
          <a:lstStyle/>
          <a:p>
            <a:endParaRPr lang="es-EC" sz="3600"/>
          </a:p>
        </p:txBody>
      </p:sp>
      <p:sp>
        <p:nvSpPr>
          <p:cNvPr id="18" name="Text 16"/>
          <p:cNvSpPr/>
          <p:nvPr/>
        </p:nvSpPr>
        <p:spPr>
          <a:xfrm>
            <a:off x="3052298" y="3885748"/>
            <a:ext cx="1983310" cy="238683"/>
          </a:xfrm>
          <a:prstGeom prst="rect">
            <a:avLst/>
          </a:prstGeom>
          <a:noFill/>
          <a:ln/>
        </p:spPr>
        <p:txBody>
          <a:bodyPr wrap="square" lIns="0" tIns="0" rIns="0" bIns="0" rtlCol="0" anchor="ctr"/>
          <a:lstStyle/>
          <a:p>
            <a:pPr marL="0" indent="0" algn="ctr">
              <a:buNone/>
            </a:pPr>
            <a:r>
              <a:rPr lang="en-US" sz="2400" b="1" dirty="0">
                <a:solidFill>
                  <a:srgbClr val="F4B942"/>
                </a:solidFill>
              </a:rPr>
              <a:t>+6 % · margen OCR</a:t>
            </a:r>
            <a:endParaRPr lang="en-US" sz="2400" dirty="0"/>
          </a:p>
        </p:txBody>
      </p:sp>
      <p:sp>
        <p:nvSpPr>
          <p:cNvPr id="19" name="Shape 17"/>
          <p:cNvSpPr/>
          <p:nvPr/>
        </p:nvSpPr>
        <p:spPr>
          <a:xfrm>
            <a:off x="1865160" y="4415302"/>
            <a:ext cx="2449460" cy="814905"/>
          </a:xfrm>
          <a:prstGeom prst="roundRect">
            <a:avLst>
              <a:gd name="adj" fmla="val 19444"/>
            </a:avLst>
          </a:prstGeom>
          <a:solidFill>
            <a:srgbClr val="2DD4BF">
              <a:alpha val="18000"/>
            </a:srgbClr>
          </a:solidFill>
          <a:ln w="12700">
            <a:solidFill>
              <a:srgbClr val="2DD4BF">
                <a:alpha val="80000"/>
              </a:srgbClr>
            </a:solidFill>
            <a:prstDash val="solid"/>
          </a:ln>
        </p:spPr>
        <p:txBody>
          <a:bodyPr/>
          <a:lstStyle/>
          <a:p>
            <a:endParaRPr lang="es-EC" sz="3600"/>
          </a:p>
        </p:txBody>
      </p:sp>
      <p:sp>
        <p:nvSpPr>
          <p:cNvPr id="20" name="Text 18"/>
          <p:cNvSpPr/>
          <p:nvPr/>
        </p:nvSpPr>
        <p:spPr>
          <a:xfrm>
            <a:off x="1783080" y="4725495"/>
            <a:ext cx="2433242" cy="146303"/>
          </a:xfrm>
          <a:prstGeom prst="rect">
            <a:avLst/>
          </a:prstGeom>
          <a:noFill/>
          <a:ln/>
        </p:spPr>
        <p:txBody>
          <a:bodyPr wrap="square" lIns="0" tIns="0" rIns="0" bIns="0" rtlCol="0" anchor="ctr"/>
          <a:lstStyle/>
          <a:p>
            <a:pPr marL="0" indent="0" algn="ctr">
              <a:buNone/>
            </a:pPr>
            <a:r>
              <a:rPr lang="en-US" sz="2800" b="1" dirty="0">
                <a:solidFill>
                  <a:srgbClr val="2DD4BF"/>
                </a:solidFill>
              </a:rPr>
              <a:t>Formato ecuatoriano</a:t>
            </a:r>
            <a:endParaRPr lang="en-US" sz="2800" dirty="0"/>
          </a:p>
        </p:txBody>
      </p:sp>
      <p:sp>
        <p:nvSpPr>
          <p:cNvPr id="21" name="Text 19"/>
          <p:cNvSpPr/>
          <p:nvPr/>
        </p:nvSpPr>
        <p:spPr>
          <a:xfrm>
            <a:off x="5532120" y="1389888"/>
            <a:ext cx="2194560" cy="219456"/>
          </a:xfrm>
          <a:prstGeom prst="rect">
            <a:avLst/>
          </a:prstGeom>
          <a:noFill/>
          <a:ln/>
        </p:spPr>
        <p:txBody>
          <a:bodyPr wrap="square" lIns="0" tIns="0" rIns="0" bIns="0" rtlCol="0" anchor="ctr"/>
          <a:lstStyle/>
          <a:p>
            <a:pPr marL="0" indent="0">
              <a:buNone/>
            </a:pPr>
            <a:r>
              <a:rPr lang="en-US" sz="1400" b="1" dirty="0">
                <a:solidFill>
                  <a:srgbClr val="9BAEC5"/>
                </a:solidFill>
              </a:rPr>
              <a:t>DOS ETAPAS PRINCIPALES</a:t>
            </a:r>
            <a:endParaRPr lang="en-US" sz="1400" dirty="0"/>
          </a:p>
        </p:txBody>
      </p:sp>
      <p:sp>
        <p:nvSpPr>
          <p:cNvPr id="22" name="Shape 20"/>
          <p:cNvSpPr/>
          <p:nvPr/>
        </p:nvSpPr>
        <p:spPr>
          <a:xfrm>
            <a:off x="5532120" y="1755648"/>
            <a:ext cx="1828800" cy="1517900"/>
          </a:xfrm>
          <a:prstGeom prst="roundRect">
            <a:avLst>
              <a:gd name="adj" fmla="val 5185"/>
            </a:avLst>
          </a:prstGeom>
          <a:solidFill>
            <a:srgbClr val="10233C"/>
          </a:solidFill>
          <a:ln w="12700">
            <a:solidFill>
              <a:srgbClr val="2DD4BF"/>
            </a:solidFill>
            <a:prstDash val="solid"/>
          </a:ln>
          <a:effectLst>
            <a:outerShdw blurRad="15240" dist="6350" dir="2700000" algn="bl" rotWithShape="0">
              <a:srgbClr val="000000">
                <a:alpha val="18000"/>
              </a:srgbClr>
            </a:outerShdw>
          </a:effectLst>
        </p:spPr>
        <p:txBody>
          <a:bodyPr/>
          <a:lstStyle/>
          <a:p>
            <a:endParaRPr lang="es-EC" sz="3600"/>
          </a:p>
        </p:txBody>
      </p:sp>
      <p:sp>
        <p:nvSpPr>
          <p:cNvPr id="23" name="Text 21"/>
          <p:cNvSpPr/>
          <p:nvPr/>
        </p:nvSpPr>
        <p:spPr>
          <a:xfrm>
            <a:off x="5715000" y="1947672"/>
            <a:ext cx="320040" cy="320040"/>
          </a:xfrm>
          <a:prstGeom prst="rect">
            <a:avLst/>
          </a:prstGeom>
          <a:noFill/>
          <a:ln/>
        </p:spPr>
        <p:txBody>
          <a:bodyPr wrap="square" lIns="0" tIns="0" rIns="0" bIns="0" rtlCol="0" anchor="ctr"/>
          <a:lstStyle/>
          <a:p>
            <a:pPr marL="0" indent="0">
              <a:buNone/>
            </a:pPr>
            <a:r>
              <a:rPr lang="en-US" sz="3600" b="1" dirty="0">
                <a:solidFill>
                  <a:srgbClr val="2DD4BF"/>
                </a:solidFill>
              </a:rPr>
              <a:t>1</a:t>
            </a:r>
            <a:endParaRPr lang="en-US" sz="3600" dirty="0"/>
          </a:p>
        </p:txBody>
      </p:sp>
      <p:sp>
        <p:nvSpPr>
          <p:cNvPr id="24" name="Text 22"/>
          <p:cNvSpPr/>
          <p:nvPr/>
        </p:nvSpPr>
        <p:spPr>
          <a:xfrm>
            <a:off x="6118196" y="2077332"/>
            <a:ext cx="1005840" cy="274320"/>
          </a:xfrm>
          <a:prstGeom prst="rect">
            <a:avLst/>
          </a:prstGeom>
          <a:noFill/>
          <a:ln/>
        </p:spPr>
        <p:txBody>
          <a:bodyPr wrap="square" lIns="0" tIns="0" rIns="0" bIns="0" rtlCol="0" anchor="ctr"/>
          <a:lstStyle/>
          <a:p>
            <a:pPr marL="0" indent="0">
              <a:buNone/>
            </a:pPr>
            <a:r>
              <a:rPr lang="en-US" sz="2800" b="1" dirty="0">
                <a:solidFill>
                  <a:srgbClr val="F8FAFC"/>
                </a:solidFill>
              </a:rPr>
              <a:t>YOLO11-s</a:t>
            </a:r>
            <a:endParaRPr lang="en-US" sz="2800" dirty="0"/>
          </a:p>
        </p:txBody>
      </p:sp>
      <p:sp>
        <p:nvSpPr>
          <p:cNvPr id="25" name="Text 23"/>
          <p:cNvSpPr/>
          <p:nvPr/>
        </p:nvSpPr>
        <p:spPr>
          <a:xfrm>
            <a:off x="5715000" y="2679192"/>
            <a:ext cx="1417320" cy="365760"/>
          </a:xfrm>
          <a:prstGeom prst="rect">
            <a:avLst/>
          </a:prstGeom>
          <a:noFill/>
          <a:ln/>
        </p:spPr>
        <p:txBody>
          <a:bodyPr wrap="square" lIns="0" tIns="0" rIns="0" bIns="0" rtlCol="0" anchor="ctr"/>
          <a:lstStyle/>
          <a:p>
            <a:pPr marL="0" indent="0" algn="ctr">
              <a:buNone/>
            </a:pPr>
            <a:r>
              <a:rPr lang="en-US" sz="1400" dirty="0">
                <a:solidFill>
                  <a:srgbClr val="D7E1EE"/>
                </a:solidFill>
              </a:rPr>
              <a:t>Encuentra dónde está la placa</a:t>
            </a:r>
            <a:endParaRPr lang="en-US" sz="1400" dirty="0"/>
          </a:p>
        </p:txBody>
      </p:sp>
      <p:sp>
        <p:nvSpPr>
          <p:cNvPr id="26" name="Shape 24"/>
          <p:cNvSpPr/>
          <p:nvPr/>
        </p:nvSpPr>
        <p:spPr>
          <a:xfrm>
            <a:off x="7470648" y="2377440"/>
            <a:ext cx="502920" cy="0"/>
          </a:xfrm>
          <a:prstGeom prst="line">
            <a:avLst/>
          </a:prstGeom>
          <a:noFill/>
          <a:ln w="25400">
            <a:solidFill>
              <a:srgbClr val="2DD4BF"/>
            </a:solidFill>
            <a:prstDash val="solid"/>
            <a:headEnd type="none"/>
            <a:tailEnd type="triangle"/>
          </a:ln>
        </p:spPr>
        <p:txBody>
          <a:bodyPr/>
          <a:lstStyle/>
          <a:p>
            <a:endParaRPr lang="es-EC" sz="3600"/>
          </a:p>
        </p:txBody>
      </p:sp>
      <p:sp>
        <p:nvSpPr>
          <p:cNvPr id="27" name="Shape 25"/>
          <p:cNvSpPr/>
          <p:nvPr/>
        </p:nvSpPr>
        <p:spPr>
          <a:xfrm>
            <a:off x="8046720" y="1755647"/>
            <a:ext cx="1828800" cy="1517897"/>
          </a:xfrm>
          <a:prstGeom prst="roundRect">
            <a:avLst>
              <a:gd name="adj" fmla="val 5185"/>
            </a:avLst>
          </a:prstGeom>
          <a:solidFill>
            <a:srgbClr val="10233C"/>
          </a:solidFill>
          <a:ln w="12700">
            <a:solidFill>
              <a:srgbClr val="60A5FA"/>
            </a:solidFill>
            <a:prstDash val="solid"/>
          </a:ln>
          <a:effectLst>
            <a:outerShdw blurRad="15240" dist="6350" dir="2700000" algn="bl" rotWithShape="0">
              <a:srgbClr val="000000">
                <a:alpha val="18000"/>
              </a:srgbClr>
            </a:outerShdw>
          </a:effectLst>
        </p:spPr>
        <p:txBody>
          <a:bodyPr/>
          <a:lstStyle/>
          <a:p>
            <a:endParaRPr lang="es-EC" sz="3600"/>
          </a:p>
        </p:txBody>
      </p:sp>
      <p:sp>
        <p:nvSpPr>
          <p:cNvPr id="28" name="Text 26"/>
          <p:cNvSpPr/>
          <p:nvPr/>
        </p:nvSpPr>
        <p:spPr>
          <a:xfrm>
            <a:off x="8229600" y="1947672"/>
            <a:ext cx="320040" cy="320040"/>
          </a:xfrm>
          <a:prstGeom prst="rect">
            <a:avLst/>
          </a:prstGeom>
          <a:noFill/>
          <a:ln/>
        </p:spPr>
        <p:txBody>
          <a:bodyPr wrap="square" lIns="0" tIns="0" rIns="0" bIns="0" rtlCol="0" anchor="ctr"/>
          <a:lstStyle/>
          <a:p>
            <a:pPr marL="0" indent="0">
              <a:buNone/>
            </a:pPr>
            <a:r>
              <a:rPr lang="en-US" sz="3600" b="1" dirty="0">
                <a:solidFill>
                  <a:srgbClr val="60A5FA"/>
                </a:solidFill>
              </a:rPr>
              <a:t>2</a:t>
            </a:r>
            <a:endParaRPr lang="en-US" sz="3600" dirty="0"/>
          </a:p>
        </p:txBody>
      </p:sp>
      <p:sp>
        <p:nvSpPr>
          <p:cNvPr id="29" name="Text 27"/>
          <p:cNvSpPr/>
          <p:nvPr/>
        </p:nvSpPr>
        <p:spPr>
          <a:xfrm>
            <a:off x="8659368" y="1874520"/>
            <a:ext cx="822960" cy="274320"/>
          </a:xfrm>
          <a:prstGeom prst="rect">
            <a:avLst/>
          </a:prstGeom>
          <a:noFill/>
          <a:ln/>
        </p:spPr>
        <p:txBody>
          <a:bodyPr wrap="square" lIns="0" tIns="0" rIns="0" bIns="0" rtlCol="0" anchor="ctr"/>
          <a:lstStyle/>
          <a:p>
            <a:pPr marL="0" indent="0">
              <a:buNone/>
            </a:pPr>
            <a:r>
              <a:rPr lang="en-US" sz="2800" b="1" dirty="0">
                <a:solidFill>
                  <a:srgbClr val="F8FAFC"/>
                </a:solidFill>
              </a:rPr>
              <a:t>OCR</a:t>
            </a:r>
            <a:endParaRPr lang="en-US" sz="2800" dirty="0"/>
          </a:p>
        </p:txBody>
      </p:sp>
      <p:sp>
        <p:nvSpPr>
          <p:cNvPr id="30" name="Text 28"/>
          <p:cNvSpPr/>
          <p:nvPr/>
        </p:nvSpPr>
        <p:spPr>
          <a:xfrm>
            <a:off x="8229600" y="2528312"/>
            <a:ext cx="1463040" cy="365760"/>
          </a:xfrm>
          <a:prstGeom prst="rect">
            <a:avLst/>
          </a:prstGeom>
          <a:noFill/>
          <a:ln/>
        </p:spPr>
        <p:txBody>
          <a:bodyPr wrap="square" lIns="0" tIns="0" rIns="0" bIns="0" rtlCol="0" anchor="ctr"/>
          <a:lstStyle/>
          <a:p>
            <a:pPr marL="0" indent="0">
              <a:buNone/>
            </a:pPr>
            <a:r>
              <a:rPr lang="en-US" sz="1400" dirty="0">
                <a:solidFill>
                  <a:srgbClr val="D7E1EE"/>
                </a:solidFill>
              </a:rPr>
              <a:t>Lee letras y números de la placa</a:t>
            </a:r>
            <a:endParaRPr lang="en-US" sz="1400" dirty="0"/>
          </a:p>
        </p:txBody>
      </p:sp>
      <p:sp>
        <p:nvSpPr>
          <p:cNvPr id="31" name="Shape 29"/>
          <p:cNvSpPr/>
          <p:nvPr/>
        </p:nvSpPr>
        <p:spPr>
          <a:xfrm>
            <a:off x="10012680" y="2377440"/>
            <a:ext cx="475488" cy="0"/>
          </a:xfrm>
          <a:prstGeom prst="line">
            <a:avLst/>
          </a:prstGeom>
          <a:noFill/>
          <a:ln w="25400">
            <a:solidFill>
              <a:srgbClr val="60A5FA"/>
            </a:solidFill>
            <a:prstDash val="solid"/>
            <a:headEnd type="none"/>
            <a:tailEnd type="triangle"/>
          </a:ln>
        </p:spPr>
        <p:txBody>
          <a:bodyPr/>
          <a:lstStyle/>
          <a:p>
            <a:endParaRPr lang="es-EC" sz="3600"/>
          </a:p>
        </p:txBody>
      </p:sp>
      <p:sp>
        <p:nvSpPr>
          <p:cNvPr id="32" name="Shape 30"/>
          <p:cNvSpPr/>
          <p:nvPr/>
        </p:nvSpPr>
        <p:spPr>
          <a:xfrm>
            <a:off x="10561320" y="1755648"/>
            <a:ext cx="914400" cy="1517896"/>
          </a:xfrm>
          <a:prstGeom prst="roundRect">
            <a:avLst>
              <a:gd name="adj" fmla="val 7000"/>
            </a:avLst>
          </a:prstGeom>
          <a:solidFill>
            <a:srgbClr val="10233C"/>
          </a:solidFill>
          <a:ln w="12700">
            <a:solidFill>
              <a:srgbClr val="F4B942"/>
            </a:solidFill>
            <a:prstDash val="solid"/>
          </a:ln>
          <a:effectLst>
            <a:outerShdw blurRad="15240" dist="6350" dir="2700000" algn="bl" rotWithShape="0">
              <a:srgbClr val="000000">
                <a:alpha val="18000"/>
              </a:srgbClr>
            </a:outerShdw>
          </a:effectLst>
        </p:spPr>
        <p:txBody>
          <a:bodyPr/>
          <a:lstStyle/>
          <a:p>
            <a:endParaRPr lang="es-EC" sz="3600"/>
          </a:p>
        </p:txBody>
      </p:sp>
      <p:sp>
        <p:nvSpPr>
          <p:cNvPr id="33" name="Text 31"/>
          <p:cNvSpPr/>
          <p:nvPr/>
        </p:nvSpPr>
        <p:spPr>
          <a:xfrm>
            <a:off x="10835640" y="1938528"/>
            <a:ext cx="329184" cy="329184"/>
          </a:xfrm>
          <a:prstGeom prst="rect">
            <a:avLst/>
          </a:prstGeom>
          <a:noFill/>
          <a:ln/>
        </p:spPr>
        <p:txBody>
          <a:bodyPr wrap="square" lIns="0" tIns="0" rIns="0" bIns="0" rtlCol="0" anchor="ctr"/>
          <a:lstStyle/>
          <a:p>
            <a:pPr marL="0" indent="0" algn="ctr">
              <a:buNone/>
            </a:pPr>
            <a:r>
              <a:rPr lang="en-US" sz="4000" b="1" dirty="0">
                <a:solidFill>
                  <a:srgbClr val="F4B942"/>
                </a:solidFill>
              </a:rPr>
              <a:t>✓</a:t>
            </a:r>
            <a:endParaRPr lang="en-US" sz="4000" dirty="0"/>
          </a:p>
        </p:txBody>
      </p:sp>
      <p:sp>
        <p:nvSpPr>
          <p:cNvPr id="34" name="Text 32"/>
          <p:cNvSpPr/>
          <p:nvPr/>
        </p:nvSpPr>
        <p:spPr>
          <a:xfrm>
            <a:off x="10661904" y="2331720"/>
            <a:ext cx="713232" cy="411480"/>
          </a:xfrm>
          <a:prstGeom prst="rect">
            <a:avLst/>
          </a:prstGeom>
          <a:noFill/>
          <a:ln/>
        </p:spPr>
        <p:txBody>
          <a:bodyPr wrap="square" lIns="0" tIns="0" rIns="0" bIns="0" rtlCol="0" anchor="ctr"/>
          <a:lstStyle/>
          <a:p>
            <a:pPr marL="0" indent="0" algn="ctr">
              <a:buNone/>
            </a:pPr>
            <a:r>
              <a:rPr lang="en-US" sz="1400" b="1" dirty="0">
                <a:solidFill>
                  <a:srgbClr val="D7E1EE"/>
                </a:solidFill>
              </a:rPr>
              <a:t>Reglas</a:t>
            </a:r>
            <a:endParaRPr lang="en-US" sz="1400" dirty="0"/>
          </a:p>
          <a:p>
            <a:pPr marL="0" indent="0" algn="ctr">
              <a:buNone/>
            </a:pPr>
            <a:r>
              <a:rPr lang="en-US" sz="1400" b="1" dirty="0">
                <a:solidFill>
                  <a:srgbClr val="D7E1EE"/>
                </a:solidFill>
              </a:rPr>
              <a:t>de acceso</a:t>
            </a:r>
            <a:endParaRPr lang="en-US" sz="1400" dirty="0"/>
          </a:p>
        </p:txBody>
      </p:sp>
      <p:sp>
        <p:nvSpPr>
          <p:cNvPr id="35" name="Shape 33"/>
          <p:cNvSpPr/>
          <p:nvPr/>
        </p:nvSpPr>
        <p:spPr>
          <a:xfrm>
            <a:off x="5687568" y="4105664"/>
            <a:ext cx="5943600" cy="2232612"/>
          </a:xfrm>
          <a:prstGeom prst="roundRect">
            <a:avLst>
              <a:gd name="adj" fmla="val 4828"/>
            </a:avLst>
          </a:prstGeom>
          <a:solidFill>
            <a:srgbClr val="0D1D33"/>
          </a:solidFill>
          <a:ln w="12700">
            <a:solidFill>
              <a:srgbClr val="223A57"/>
            </a:solidFill>
            <a:prstDash val="solid"/>
          </a:ln>
        </p:spPr>
        <p:txBody>
          <a:bodyPr/>
          <a:lstStyle/>
          <a:p>
            <a:endParaRPr lang="es-EC" sz="3600"/>
          </a:p>
        </p:txBody>
      </p:sp>
      <p:sp>
        <p:nvSpPr>
          <p:cNvPr id="36" name="Text 34"/>
          <p:cNvSpPr/>
          <p:nvPr/>
        </p:nvSpPr>
        <p:spPr>
          <a:xfrm>
            <a:off x="5806440" y="4486029"/>
            <a:ext cx="2103120" cy="274320"/>
          </a:xfrm>
          <a:prstGeom prst="rect">
            <a:avLst/>
          </a:prstGeom>
          <a:noFill/>
          <a:ln/>
        </p:spPr>
        <p:txBody>
          <a:bodyPr wrap="square" lIns="0" tIns="0" rIns="0" bIns="0" rtlCol="0" anchor="ctr"/>
          <a:lstStyle/>
          <a:p>
            <a:pPr marL="0" indent="0">
              <a:buNone/>
            </a:pPr>
            <a:r>
              <a:rPr lang="en-US" sz="2400" b="1" dirty="0">
                <a:solidFill>
                  <a:srgbClr val="F8FAFC"/>
                </a:solidFill>
              </a:rPr>
              <a:t>Resultado para el operador</a:t>
            </a:r>
            <a:endParaRPr lang="en-US" sz="2400" dirty="0"/>
          </a:p>
        </p:txBody>
      </p:sp>
      <p:sp>
        <p:nvSpPr>
          <p:cNvPr id="37" name="Text 35"/>
          <p:cNvSpPr/>
          <p:nvPr/>
        </p:nvSpPr>
        <p:spPr>
          <a:xfrm>
            <a:off x="5796749" y="5089530"/>
            <a:ext cx="5212080" cy="256032"/>
          </a:xfrm>
          <a:prstGeom prst="rect">
            <a:avLst/>
          </a:prstGeom>
          <a:noFill/>
          <a:ln/>
        </p:spPr>
        <p:txBody>
          <a:bodyPr wrap="square" lIns="0" tIns="0" rIns="0" bIns="0" rtlCol="0" anchor="ctr"/>
          <a:lstStyle/>
          <a:p>
            <a:pPr marL="0" indent="0">
              <a:buNone/>
            </a:pPr>
            <a:r>
              <a:rPr lang="en-US" dirty="0">
                <a:solidFill>
                  <a:srgbClr val="D7E1EE"/>
                </a:solidFill>
              </a:rPr>
              <a:t>Autorizado · Restringido · No registrado · Revisión manual</a:t>
            </a:r>
            <a:endParaRPr lang="en-US" dirty="0"/>
          </a:p>
        </p:txBody>
      </p:sp>
      <p:sp>
        <p:nvSpPr>
          <p:cNvPr id="38" name="Text 36"/>
          <p:cNvSpPr/>
          <p:nvPr/>
        </p:nvSpPr>
        <p:spPr>
          <a:xfrm>
            <a:off x="5806440" y="5473581"/>
            <a:ext cx="4389120" cy="201168"/>
          </a:xfrm>
          <a:prstGeom prst="rect">
            <a:avLst/>
          </a:prstGeom>
          <a:noFill/>
          <a:ln/>
        </p:spPr>
        <p:txBody>
          <a:bodyPr wrap="square" lIns="0" tIns="0" rIns="0" bIns="0" rtlCol="0" anchor="ctr"/>
          <a:lstStyle/>
          <a:p>
            <a:pPr marL="0" indent="0">
              <a:buNone/>
            </a:pPr>
            <a:r>
              <a:rPr lang="en-US" sz="1200" dirty="0">
                <a:solidFill>
                  <a:srgbClr val="9BAEC5"/>
                </a:solidFill>
              </a:rPr>
              <a:t>La persona operadora conserva la decisión final.</a:t>
            </a:r>
            <a:endParaRPr lang="en-US" sz="1200" dirty="0"/>
          </a:p>
        </p:txBody>
      </p:sp>
      <p:sp>
        <p:nvSpPr>
          <p:cNvPr id="40" name="Slide Number Placeholder 0"/>
          <p:cNvSpPr>
            <a:spLocks noGrp="1"/>
          </p:cNvSpPr>
          <p:nvPr>
            <p:ph type="sldNum" sz="quarter" idx="4294967295"/>
          </p:nvPr>
        </p:nvSpPr>
        <p:spPr>
          <a:xfrm>
            <a:off x="11384280" y="6428232"/>
            <a:ext cx="457200" cy="182880"/>
          </a:xfrm>
          <a:prstGeom prst="rect">
            <a:avLst/>
          </a:prstGeom>
          <a:extLst>
            <a:ext uri="{C572A759-6A51-4108-AA02-DFA0A04FC94B}">
              <ma14:wrappingTextBoxFlag xmlns="" xmlns:ma14="http://schemas.microsoft.com/office/mac/drawingml/2011/main" val="0"/>
            </a:ext>
          </a:extLst>
        </p:spPr>
        <p:txBody>
          <a:bodyPr/>
          <a:lstStyle>
            <a:lvl1pPr>
              <a:defRPr sz="700">
                <a:solidFill>
                  <a:srgbClr val="58708F"/>
                </a:solidFill>
                <a:latin typeface="Aptos"/>
                <a:ea typeface="Aptos"/>
                <a:cs typeface="Aptos"/>
              </a:defRPr>
            </a:lvl1pPr>
          </a:lstStyle>
          <a:p>
            <a:pPr algn="r"/>
            <a:fld id="{F7021451-1387-4CA6-816F-3879F97B5CBC}" type="slidenum">
              <a:rPr lang="en-US" sz="1100" b="0"/>
              <a:t>2</a:t>
            </a:fld>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8" name="Picture 27" descr="73ea2217-3aa7-5ba4-8da8-6a1c1835f362.jpg"/>
          <p:cNvPicPr>
            <a:picLocks noChangeAspect="1"/>
          </p:cNvPicPr>
          <p:nvPr/>
        </p:nvPicPr>
        <p:blipFill>
          <a:blip r:embed="rId3"/>
          <a:stretch>
            <a:fillRect/>
          </a:stretch>
        </p:blipFill>
        <p:spPr>
          <a:xfrm>
            <a:off x="0" y="0"/>
            <a:ext cx="12192000" cy="6858000"/>
          </a:xfrm>
          <a:prstGeom prst="rect">
            <a:avLst/>
          </a:prstGeom>
        </p:spPr>
      </p:pic>
      <p:sp>
        <p:nvSpPr>
          <p:cNvPr id="2" name="Text 0"/>
          <p:cNvSpPr/>
          <p:nvPr/>
        </p:nvSpPr>
        <p:spPr>
          <a:xfrm>
            <a:off x="777240" y="320040"/>
            <a:ext cx="7132320" cy="201168"/>
          </a:xfrm>
          <a:prstGeom prst="rect">
            <a:avLst/>
          </a:prstGeom>
          <a:noFill/>
          <a:ln/>
        </p:spPr>
        <p:txBody>
          <a:bodyPr wrap="square" lIns="0" tIns="0" rIns="0" bIns="0" rtlCol="0" anchor="ctr"/>
          <a:lstStyle/>
          <a:p>
            <a:pPr marL="0" indent="0">
              <a:buNone/>
            </a:pPr>
            <a:r>
              <a:rPr lang="en-US" sz="1100" b="1" kern="0" spc="80" dirty="0">
                <a:solidFill>
                  <a:srgbClr val="9BAEC5"/>
                </a:solidFill>
                <a:latin typeface="Aptos" pitchFamily="34" charset="0"/>
                <a:ea typeface="Aptos" pitchFamily="34" charset="-122"/>
                <a:cs typeface="Aptos" pitchFamily="34" charset="-120"/>
              </a:rPr>
              <a:t>PRUEBAS, APRENDIZAJE Y DECISIÓN TÉCNICA</a:t>
            </a:r>
            <a:endParaRPr lang="en-US" sz="1100" dirty="0"/>
          </a:p>
        </p:txBody>
      </p:sp>
      <p:sp>
        <p:nvSpPr>
          <p:cNvPr id="3" name="Text 1"/>
          <p:cNvSpPr/>
          <p:nvPr/>
        </p:nvSpPr>
        <p:spPr>
          <a:xfrm>
            <a:off x="777240" y="1111496"/>
            <a:ext cx="8046720" cy="420624"/>
          </a:xfrm>
          <a:prstGeom prst="rect">
            <a:avLst/>
          </a:prstGeom>
          <a:noFill/>
          <a:ln/>
        </p:spPr>
        <p:txBody>
          <a:bodyPr wrap="square" lIns="0" tIns="0" rIns="0" bIns="0" rtlCol="0" anchor="ctr"/>
          <a:lstStyle/>
          <a:p>
            <a:pPr marL="0" indent="0">
              <a:buNone/>
            </a:pPr>
            <a:r>
              <a:rPr lang="en-US" sz="2400" b="1" dirty="0">
                <a:solidFill>
                  <a:srgbClr val="F8FAFC"/>
                </a:solidFill>
                <a:latin typeface="Aptos Display" pitchFamily="34" charset="0"/>
                <a:ea typeface="Aptos Display" pitchFamily="34" charset="-122"/>
                <a:cs typeface="Aptos Display" pitchFamily="34" charset="-120"/>
              </a:rPr>
              <a:t>Qué mejoramos durante el desarrollo</a:t>
            </a:r>
            <a:endParaRPr lang="en-US" sz="2400" dirty="0"/>
          </a:p>
        </p:txBody>
      </p:sp>
      <p:sp>
        <p:nvSpPr>
          <p:cNvPr id="4" name="Text 2"/>
          <p:cNvSpPr/>
          <p:nvPr/>
        </p:nvSpPr>
        <p:spPr>
          <a:xfrm>
            <a:off x="10817352" y="393192"/>
            <a:ext cx="640080" cy="201168"/>
          </a:xfrm>
          <a:prstGeom prst="rect">
            <a:avLst/>
          </a:prstGeom>
          <a:noFill/>
          <a:ln/>
        </p:spPr>
        <p:txBody>
          <a:bodyPr wrap="square" lIns="0" tIns="0" rIns="0" bIns="0" rtlCol="0" anchor="ctr"/>
          <a:lstStyle/>
          <a:p>
            <a:pPr marL="0" indent="0" algn="r">
              <a:buNone/>
            </a:pPr>
            <a:r>
              <a:rPr lang="en-US" sz="1100" b="1" dirty="0">
                <a:solidFill>
                  <a:srgbClr val="F4B942"/>
                </a:solidFill>
                <a:latin typeface="Aptos" pitchFamily="34" charset="0"/>
                <a:ea typeface="Aptos" pitchFamily="34" charset="-122"/>
                <a:cs typeface="Aptos" pitchFamily="34" charset="-120"/>
              </a:rPr>
              <a:t>00:45</a:t>
            </a:r>
            <a:endParaRPr lang="en-US" sz="1100" dirty="0"/>
          </a:p>
        </p:txBody>
      </p:sp>
      <p:sp>
        <p:nvSpPr>
          <p:cNvPr id="5" name="Text 3"/>
          <p:cNvSpPr/>
          <p:nvPr/>
        </p:nvSpPr>
        <p:spPr>
          <a:xfrm>
            <a:off x="10607040" y="768096"/>
            <a:ext cx="841248" cy="182880"/>
          </a:xfrm>
          <a:prstGeom prst="rect">
            <a:avLst/>
          </a:prstGeom>
          <a:noFill/>
          <a:ln/>
        </p:spPr>
        <p:txBody>
          <a:bodyPr wrap="square" lIns="0" tIns="0" rIns="0" bIns="0" rtlCol="0" anchor="ctr"/>
          <a:lstStyle/>
          <a:p>
            <a:pPr marL="0" indent="0" algn="r">
              <a:buNone/>
            </a:pPr>
            <a:r>
              <a:rPr lang="en-US" sz="1050" dirty="0">
                <a:solidFill>
                  <a:srgbClr val="607792"/>
                </a:solidFill>
                <a:latin typeface="Aptos" pitchFamily="34" charset="0"/>
                <a:ea typeface="Aptos" pitchFamily="34" charset="-122"/>
                <a:cs typeface="Aptos" pitchFamily="34" charset="-120"/>
              </a:rPr>
              <a:t>03 / 08</a:t>
            </a:r>
            <a:endParaRPr lang="en-US" sz="1050" dirty="0"/>
          </a:p>
        </p:txBody>
      </p:sp>
      <p:sp>
        <p:nvSpPr>
          <p:cNvPr id="6" name="Shape 4"/>
          <p:cNvSpPr/>
          <p:nvPr/>
        </p:nvSpPr>
        <p:spPr>
          <a:xfrm>
            <a:off x="822960" y="1931357"/>
            <a:ext cx="5166360" cy="4343400"/>
          </a:xfrm>
          <a:prstGeom prst="roundRect">
            <a:avLst>
              <a:gd name="adj" fmla="val 1474"/>
            </a:avLst>
          </a:prstGeom>
          <a:solidFill>
            <a:srgbClr val="0D1D33"/>
          </a:solidFill>
          <a:ln w="12700">
            <a:solidFill>
              <a:srgbClr val="223A57"/>
            </a:solidFill>
            <a:prstDash val="solid"/>
          </a:ln>
          <a:effectLst>
            <a:outerShdw blurRad="15240" dist="6350" dir="2700000" algn="bl" rotWithShape="0">
              <a:srgbClr val="000000">
                <a:alpha val="18000"/>
              </a:srgbClr>
            </a:outerShdw>
          </a:effectLst>
        </p:spPr>
        <p:txBody>
          <a:bodyPr/>
          <a:lstStyle/>
          <a:p>
            <a:endParaRPr lang="es-EC" sz="3200" dirty="0"/>
          </a:p>
        </p:txBody>
      </p:sp>
      <p:sp>
        <p:nvSpPr>
          <p:cNvPr id="7" name="Text 5"/>
          <p:cNvSpPr/>
          <p:nvPr/>
        </p:nvSpPr>
        <p:spPr>
          <a:xfrm>
            <a:off x="1051560" y="1931357"/>
            <a:ext cx="3520440" cy="219456"/>
          </a:xfrm>
          <a:prstGeom prst="rect">
            <a:avLst/>
          </a:prstGeom>
          <a:noFill/>
          <a:ln/>
        </p:spPr>
        <p:txBody>
          <a:bodyPr wrap="square" lIns="0" tIns="0" rIns="0" bIns="0" rtlCol="0" anchor="ctr"/>
          <a:lstStyle/>
          <a:p>
            <a:pPr marL="0" indent="0">
              <a:buNone/>
            </a:pPr>
            <a:r>
              <a:rPr lang="en-US" sz="1200" b="1" dirty="0">
                <a:solidFill>
                  <a:srgbClr val="9BAEC5"/>
                </a:solidFill>
              </a:rPr>
              <a:t>MEJORA DURANTE EL ENTRENAMIENTO</a:t>
            </a:r>
            <a:endParaRPr lang="en-US" sz="1200" dirty="0"/>
          </a:p>
        </p:txBody>
      </p:sp>
      <p:sp>
        <p:nvSpPr>
          <p:cNvPr id="8" name="Text 6"/>
          <p:cNvSpPr/>
          <p:nvPr/>
        </p:nvSpPr>
        <p:spPr>
          <a:xfrm>
            <a:off x="1078992" y="2194560"/>
            <a:ext cx="1143000" cy="457200"/>
          </a:xfrm>
          <a:prstGeom prst="rect">
            <a:avLst/>
          </a:prstGeom>
          <a:noFill/>
          <a:ln/>
        </p:spPr>
        <p:txBody>
          <a:bodyPr wrap="square" lIns="0" tIns="0" rIns="0" bIns="0" rtlCol="0" anchor="ctr"/>
          <a:lstStyle/>
          <a:p>
            <a:pPr marL="0" indent="0">
              <a:buNone/>
            </a:pPr>
            <a:r>
              <a:rPr lang="en-US" sz="4000" b="1" dirty="0">
                <a:solidFill>
                  <a:srgbClr val="F8FAFC"/>
                </a:solidFill>
              </a:rPr>
              <a:t>85 %</a:t>
            </a:r>
            <a:endParaRPr lang="en-US" sz="4000" dirty="0"/>
          </a:p>
        </p:txBody>
      </p:sp>
      <p:sp>
        <p:nvSpPr>
          <p:cNvPr id="9" name="Text 7"/>
          <p:cNvSpPr/>
          <p:nvPr/>
        </p:nvSpPr>
        <p:spPr>
          <a:xfrm>
            <a:off x="2331720" y="2212848"/>
            <a:ext cx="502920" cy="411480"/>
          </a:xfrm>
          <a:prstGeom prst="rect">
            <a:avLst/>
          </a:prstGeom>
          <a:noFill/>
          <a:ln/>
        </p:spPr>
        <p:txBody>
          <a:bodyPr wrap="square" lIns="0" tIns="0" rIns="0" bIns="0" rtlCol="0" anchor="ctr"/>
          <a:lstStyle/>
          <a:p>
            <a:pPr marL="0" indent="0" algn="ctr">
              <a:buNone/>
            </a:pPr>
            <a:r>
              <a:rPr lang="en-US" sz="4000" b="1" dirty="0">
                <a:solidFill>
                  <a:srgbClr val="2DD4BF"/>
                </a:solidFill>
              </a:rPr>
              <a:t>→</a:t>
            </a:r>
            <a:endParaRPr lang="en-US" sz="4000" dirty="0"/>
          </a:p>
        </p:txBody>
      </p:sp>
      <p:sp>
        <p:nvSpPr>
          <p:cNvPr id="10" name="Text 8"/>
          <p:cNvSpPr/>
          <p:nvPr/>
        </p:nvSpPr>
        <p:spPr>
          <a:xfrm>
            <a:off x="2926080" y="2194560"/>
            <a:ext cx="1234440" cy="457200"/>
          </a:xfrm>
          <a:prstGeom prst="rect">
            <a:avLst/>
          </a:prstGeom>
          <a:noFill/>
          <a:ln/>
        </p:spPr>
        <p:txBody>
          <a:bodyPr wrap="square" lIns="0" tIns="0" rIns="0" bIns="0" rtlCol="0" anchor="ctr"/>
          <a:lstStyle/>
          <a:p>
            <a:pPr marL="0" indent="0">
              <a:buNone/>
            </a:pPr>
            <a:r>
              <a:rPr lang="en-US" sz="4000" b="1" dirty="0">
                <a:solidFill>
                  <a:srgbClr val="2DD4BF"/>
                </a:solidFill>
              </a:rPr>
              <a:t>97 %</a:t>
            </a:r>
            <a:endParaRPr lang="en-US" sz="4000" dirty="0"/>
          </a:p>
        </p:txBody>
      </p:sp>
      <p:sp>
        <p:nvSpPr>
          <p:cNvPr id="11" name="Text 9"/>
          <p:cNvSpPr/>
          <p:nvPr/>
        </p:nvSpPr>
        <p:spPr>
          <a:xfrm>
            <a:off x="1078992" y="2788920"/>
            <a:ext cx="3063240" cy="274320"/>
          </a:xfrm>
          <a:prstGeom prst="rect">
            <a:avLst/>
          </a:prstGeom>
          <a:noFill/>
          <a:ln/>
        </p:spPr>
        <p:txBody>
          <a:bodyPr wrap="square" lIns="0" tIns="0" rIns="0" bIns="0" rtlCol="0" anchor="ctr"/>
          <a:lstStyle/>
          <a:p>
            <a:pPr marL="0" indent="0">
              <a:buNone/>
            </a:pPr>
            <a:r>
              <a:rPr lang="en-US" sz="1400" dirty="0">
                <a:solidFill>
                  <a:srgbClr val="D7E1EE"/>
                </a:solidFill>
              </a:rPr>
              <a:t>Indicador principal de detección</a:t>
            </a:r>
            <a:endParaRPr lang="en-US" sz="1400" dirty="0"/>
          </a:p>
        </p:txBody>
      </p:sp>
      <p:sp>
        <p:nvSpPr>
          <p:cNvPr id="12" name="Text 10"/>
          <p:cNvSpPr/>
          <p:nvPr/>
        </p:nvSpPr>
        <p:spPr>
          <a:xfrm>
            <a:off x="1078992" y="3383280"/>
            <a:ext cx="4206240" cy="621792"/>
          </a:xfrm>
          <a:prstGeom prst="rect">
            <a:avLst/>
          </a:prstGeom>
          <a:noFill/>
          <a:ln/>
        </p:spPr>
        <p:txBody>
          <a:bodyPr wrap="square" lIns="0" tIns="0" rIns="0" bIns="0" rtlCol="0" anchor="ctr"/>
          <a:lstStyle/>
          <a:p>
            <a:pPr marL="0" indent="0">
              <a:buNone/>
            </a:pPr>
            <a:r>
              <a:rPr lang="en-US" sz="2000" b="1" dirty="0">
                <a:solidFill>
                  <a:srgbClr val="F8FAFC"/>
                </a:solidFill>
              </a:rPr>
              <a:t>El reto: detectar placas pequeñas sin depender de hardware costoso.</a:t>
            </a:r>
            <a:endParaRPr lang="en-US" sz="2000" dirty="0"/>
          </a:p>
        </p:txBody>
      </p:sp>
      <p:sp>
        <p:nvSpPr>
          <p:cNvPr id="13" name="Shape 11"/>
          <p:cNvSpPr/>
          <p:nvPr/>
        </p:nvSpPr>
        <p:spPr>
          <a:xfrm>
            <a:off x="1078992" y="4279392"/>
            <a:ext cx="2057400" cy="329184"/>
          </a:xfrm>
          <a:prstGeom prst="roundRect">
            <a:avLst>
              <a:gd name="adj" fmla="val 19444"/>
            </a:avLst>
          </a:prstGeom>
          <a:solidFill>
            <a:srgbClr val="60A5FA">
              <a:alpha val="18000"/>
            </a:srgbClr>
          </a:solidFill>
          <a:ln w="12700">
            <a:solidFill>
              <a:srgbClr val="60A5FA">
                <a:alpha val="80000"/>
              </a:srgbClr>
            </a:solidFill>
            <a:prstDash val="solid"/>
          </a:ln>
        </p:spPr>
        <p:txBody>
          <a:bodyPr/>
          <a:lstStyle/>
          <a:p>
            <a:endParaRPr lang="es-EC" sz="3200"/>
          </a:p>
        </p:txBody>
      </p:sp>
      <p:sp>
        <p:nvSpPr>
          <p:cNvPr id="14" name="Text 12"/>
          <p:cNvSpPr/>
          <p:nvPr/>
        </p:nvSpPr>
        <p:spPr>
          <a:xfrm>
            <a:off x="1152144" y="4352544"/>
            <a:ext cx="1911096" cy="146304"/>
          </a:xfrm>
          <a:prstGeom prst="rect">
            <a:avLst/>
          </a:prstGeom>
          <a:noFill/>
          <a:ln/>
        </p:spPr>
        <p:txBody>
          <a:bodyPr wrap="square" lIns="0" tIns="0" rIns="0" bIns="0" rtlCol="0" anchor="ctr"/>
          <a:lstStyle/>
          <a:p>
            <a:pPr marL="0" indent="0" algn="ctr">
              <a:buNone/>
            </a:pPr>
            <a:r>
              <a:rPr lang="en-US" sz="1100" b="1" dirty="0">
                <a:solidFill>
                  <a:srgbClr val="60A5FA"/>
                </a:solidFill>
              </a:rPr>
              <a:t>24 pruebas de configuración</a:t>
            </a:r>
            <a:endParaRPr lang="en-US" sz="1100" dirty="0"/>
          </a:p>
        </p:txBody>
      </p:sp>
      <p:sp>
        <p:nvSpPr>
          <p:cNvPr id="15" name="Shape 13"/>
          <p:cNvSpPr/>
          <p:nvPr/>
        </p:nvSpPr>
        <p:spPr>
          <a:xfrm>
            <a:off x="3291840" y="4279392"/>
            <a:ext cx="2148840" cy="329184"/>
          </a:xfrm>
          <a:prstGeom prst="roundRect">
            <a:avLst>
              <a:gd name="adj" fmla="val 19444"/>
            </a:avLst>
          </a:prstGeom>
          <a:solidFill>
            <a:srgbClr val="F4B942">
              <a:alpha val="18000"/>
            </a:srgbClr>
          </a:solidFill>
          <a:ln w="12700">
            <a:solidFill>
              <a:srgbClr val="F4B942">
                <a:alpha val="80000"/>
              </a:srgbClr>
            </a:solidFill>
            <a:prstDash val="solid"/>
          </a:ln>
        </p:spPr>
        <p:txBody>
          <a:bodyPr/>
          <a:lstStyle/>
          <a:p>
            <a:endParaRPr lang="es-EC" sz="3200"/>
          </a:p>
        </p:txBody>
      </p:sp>
      <p:sp>
        <p:nvSpPr>
          <p:cNvPr id="16" name="Text 14"/>
          <p:cNvSpPr/>
          <p:nvPr/>
        </p:nvSpPr>
        <p:spPr>
          <a:xfrm>
            <a:off x="3364992" y="4352544"/>
            <a:ext cx="2002536" cy="146304"/>
          </a:xfrm>
          <a:prstGeom prst="rect">
            <a:avLst/>
          </a:prstGeom>
          <a:noFill/>
          <a:ln/>
        </p:spPr>
        <p:txBody>
          <a:bodyPr wrap="square" lIns="0" tIns="0" rIns="0" bIns="0" rtlCol="0" anchor="ctr"/>
          <a:lstStyle/>
          <a:p>
            <a:pPr marL="0" indent="0" algn="ctr">
              <a:buNone/>
            </a:pPr>
            <a:r>
              <a:rPr lang="en-US" sz="1100" b="1" dirty="0">
                <a:solidFill>
                  <a:srgbClr val="F4B942"/>
                </a:solidFill>
              </a:rPr>
              <a:t>Tasa de aprendizaje: factor clave</a:t>
            </a:r>
            <a:endParaRPr lang="en-US" sz="1100" dirty="0"/>
          </a:p>
        </p:txBody>
      </p:sp>
      <p:sp>
        <p:nvSpPr>
          <p:cNvPr id="17" name="Shape 15"/>
          <p:cNvSpPr/>
          <p:nvPr/>
        </p:nvSpPr>
        <p:spPr>
          <a:xfrm>
            <a:off x="6263640" y="1899764"/>
            <a:ext cx="5212080" cy="4343400"/>
          </a:xfrm>
          <a:prstGeom prst="roundRect">
            <a:avLst>
              <a:gd name="adj" fmla="val 1474"/>
            </a:avLst>
          </a:prstGeom>
          <a:solidFill>
            <a:srgbClr val="10233C"/>
          </a:solidFill>
          <a:ln w="12700">
            <a:solidFill>
              <a:srgbClr val="223A57"/>
            </a:solidFill>
            <a:prstDash val="solid"/>
          </a:ln>
          <a:effectLst>
            <a:outerShdw blurRad="15240" dist="6350" dir="2700000" algn="bl" rotWithShape="0">
              <a:srgbClr val="000000">
                <a:alpha val="18000"/>
              </a:srgbClr>
            </a:outerShdw>
          </a:effectLst>
        </p:spPr>
        <p:txBody>
          <a:bodyPr/>
          <a:lstStyle/>
          <a:p>
            <a:endParaRPr lang="es-EC" sz="3200"/>
          </a:p>
        </p:txBody>
      </p:sp>
      <p:sp>
        <p:nvSpPr>
          <p:cNvPr id="18" name="Text 16"/>
          <p:cNvSpPr/>
          <p:nvPr/>
        </p:nvSpPr>
        <p:spPr>
          <a:xfrm>
            <a:off x="6537960" y="1906524"/>
            <a:ext cx="1737360" cy="219456"/>
          </a:xfrm>
          <a:prstGeom prst="rect">
            <a:avLst/>
          </a:prstGeom>
          <a:noFill/>
          <a:ln/>
        </p:spPr>
        <p:txBody>
          <a:bodyPr wrap="square" lIns="0" tIns="0" rIns="0" bIns="0" rtlCol="0" anchor="ctr"/>
          <a:lstStyle/>
          <a:p>
            <a:pPr marL="0" indent="0">
              <a:buNone/>
            </a:pPr>
            <a:r>
              <a:rPr lang="en-US" sz="1200" b="1" dirty="0">
                <a:solidFill>
                  <a:srgbClr val="9BAEC5"/>
                </a:solidFill>
              </a:rPr>
              <a:t>DECISIÓN FINAL</a:t>
            </a:r>
            <a:endParaRPr lang="en-US" sz="1200" dirty="0"/>
          </a:p>
        </p:txBody>
      </p:sp>
      <p:sp>
        <p:nvSpPr>
          <p:cNvPr id="19" name="Text 17"/>
          <p:cNvSpPr/>
          <p:nvPr/>
        </p:nvSpPr>
        <p:spPr>
          <a:xfrm>
            <a:off x="6537960" y="2426360"/>
            <a:ext cx="4434840" cy="749808"/>
          </a:xfrm>
          <a:prstGeom prst="rect">
            <a:avLst/>
          </a:prstGeom>
          <a:noFill/>
          <a:ln/>
        </p:spPr>
        <p:txBody>
          <a:bodyPr wrap="square" lIns="0" tIns="0" rIns="0" bIns="0" rtlCol="0" anchor="ctr"/>
          <a:lstStyle/>
          <a:p>
            <a:pPr marL="0" indent="0">
              <a:buNone/>
            </a:pPr>
            <a:r>
              <a:rPr lang="en-US" sz="3200" b="1" dirty="0">
                <a:solidFill>
                  <a:srgbClr val="F8FAFC"/>
                </a:solidFill>
              </a:rPr>
              <a:t>La configuración optimizada mejoró, pero solo ligeramente.</a:t>
            </a:r>
            <a:endParaRPr lang="en-US" sz="3200" dirty="0"/>
          </a:p>
        </p:txBody>
      </p:sp>
      <p:sp>
        <p:nvSpPr>
          <p:cNvPr id="20" name="Text 18"/>
          <p:cNvSpPr/>
          <p:nvPr/>
        </p:nvSpPr>
        <p:spPr>
          <a:xfrm>
            <a:off x="6537960" y="3607972"/>
            <a:ext cx="4206240" cy="384048"/>
          </a:xfrm>
          <a:prstGeom prst="rect">
            <a:avLst/>
          </a:prstGeom>
          <a:noFill/>
          <a:ln/>
        </p:spPr>
        <p:txBody>
          <a:bodyPr wrap="square" lIns="0" tIns="0" rIns="0" bIns="0" rtlCol="0" anchor="ctr"/>
          <a:lstStyle/>
          <a:p>
            <a:pPr marL="0" indent="0">
              <a:buNone/>
            </a:pPr>
            <a:r>
              <a:rPr lang="en-US" sz="1400" dirty="0">
                <a:solidFill>
                  <a:srgbClr val="D7E1EE"/>
                </a:solidFill>
              </a:rPr>
              <a:t>Por eso conservamos el modelo que ofrecía el mejor equilibrio entre:</a:t>
            </a:r>
            <a:endParaRPr lang="en-US" sz="1400" dirty="0"/>
          </a:p>
        </p:txBody>
      </p:sp>
      <p:sp>
        <p:nvSpPr>
          <p:cNvPr id="21" name="Shape 19"/>
          <p:cNvSpPr/>
          <p:nvPr/>
        </p:nvSpPr>
        <p:spPr>
          <a:xfrm>
            <a:off x="6529754" y="4191391"/>
            <a:ext cx="1051560" cy="329184"/>
          </a:xfrm>
          <a:prstGeom prst="roundRect">
            <a:avLst>
              <a:gd name="adj" fmla="val 19444"/>
            </a:avLst>
          </a:prstGeom>
          <a:solidFill>
            <a:srgbClr val="2DD4BF">
              <a:alpha val="18000"/>
            </a:srgbClr>
          </a:solidFill>
          <a:ln w="12700">
            <a:solidFill>
              <a:srgbClr val="2DD4BF">
                <a:alpha val="80000"/>
              </a:srgbClr>
            </a:solidFill>
            <a:prstDash val="solid"/>
          </a:ln>
        </p:spPr>
        <p:txBody>
          <a:bodyPr/>
          <a:lstStyle/>
          <a:p>
            <a:endParaRPr lang="es-EC" sz="3200"/>
          </a:p>
        </p:txBody>
      </p:sp>
      <p:sp>
        <p:nvSpPr>
          <p:cNvPr id="22" name="Text 20"/>
          <p:cNvSpPr/>
          <p:nvPr/>
        </p:nvSpPr>
        <p:spPr>
          <a:xfrm>
            <a:off x="6611112" y="4244217"/>
            <a:ext cx="905256" cy="146304"/>
          </a:xfrm>
          <a:prstGeom prst="rect">
            <a:avLst/>
          </a:prstGeom>
          <a:noFill/>
          <a:ln/>
        </p:spPr>
        <p:txBody>
          <a:bodyPr wrap="square" lIns="0" tIns="0" rIns="0" bIns="0" rtlCol="0" anchor="ctr"/>
          <a:lstStyle/>
          <a:p>
            <a:pPr marL="0" indent="0" algn="ctr">
              <a:buNone/>
            </a:pPr>
            <a:r>
              <a:rPr lang="en-US" sz="1100" b="1" dirty="0">
                <a:solidFill>
                  <a:srgbClr val="2DD4BF"/>
                </a:solidFill>
              </a:rPr>
              <a:t>Precisión</a:t>
            </a:r>
            <a:endParaRPr lang="en-US" sz="1100" dirty="0"/>
          </a:p>
        </p:txBody>
      </p:sp>
      <p:sp>
        <p:nvSpPr>
          <p:cNvPr id="23" name="Shape 21"/>
          <p:cNvSpPr/>
          <p:nvPr/>
        </p:nvSpPr>
        <p:spPr>
          <a:xfrm>
            <a:off x="7726680" y="4186707"/>
            <a:ext cx="1234440" cy="329184"/>
          </a:xfrm>
          <a:prstGeom prst="roundRect">
            <a:avLst>
              <a:gd name="adj" fmla="val 19444"/>
            </a:avLst>
          </a:prstGeom>
          <a:solidFill>
            <a:srgbClr val="60A5FA">
              <a:alpha val="18000"/>
            </a:srgbClr>
          </a:solidFill>
          <a:ln w="12700">
            <a:solidFill>
              <a:srgbClr val="60A5FA">
                <a:alpha val="80000"/>
              </a:srgbClr>
            </a:solidFill>
            <a:prstDash val="solid"/>
          </a:ln>
        </p:spPr>
        <p:txBody>
          <a:bodyPr/>
          <a:lstStyle/>
          <a:p>
            <a:endParaRPr lang="es-EC" sz="3200"/>
          </a:p>
        </p:txBody>
      </p:sp>
      <p:sp>
        <p:nvSpPr>
          <p:cNvPr id="24" name="Text 22"/>
          <p:cNvSpPr/>
          <p:nvPr/>
        </p:nvSpPr>
        <p:spPr>
          <a:xfrm>
            <a:off x="7799832" y="4259859"/>
            <a:ext cx="1088136" cy="146304"/>
          </a:xfrm>
          <a:prstGeom prst="rect">
            <a:avLst/>
          </a:prstGeom>
          <a:noFill/>
          <a:ln/>
        </p:spPr>
        <p:txBody>
          <a:bodyPr wrap="square" lIns="0" tIns="0" rIns="0" bIns="0" rtlCol="0" anchor="ctr"/>
          <a:lstStyle/>
          <a:p>
            <a:pPr marL="0" indent="0" algn="ctr">
              <a:buNone/>
            </a:pPr>
            <a:r>
              <a:rPr lang="en-US" sz="1100" b="1" dirty="0">
                <a:solidFill>
                  <a:srgbClr val="60A5FA"/>
                </a:solidFill>
              </a:rPr>
              <a:t>Estabilidad</a:t>
            </a:r>
            <a:endParaRPr lang="en-US" sz="1100" dirty="0"/>
          </a:p>
        </p:txBody>
      </p:sp>
      <p:sp>
        <p:nvSpPr>
          <p:cNvPr id="25" name="Shape 23"/>
          <p:cNvSpPr/>
          <p:nvPr/>
        </p:nvSpPr>
        <p:spPr>
          <a:xfrm>
            <a:off x="9098280" y="4178878"/>
            <a:ext cx="1874520" cy="329184"/>
          </a:xfrm>
          <a:prstGeom prst="roundRect">
            <a:avLst>
              <a:gd name="adj" fmla="val 19444"/>
            </a:avLst>
          </a:prstGeom>
          <a:solidFill>
            <a:srgbClr val="F4B942">
              <a:alpha val="18000"/>
            </a:srgbClr>
          </a:solidFill>
          <a:ln w="12700">
            <a:solidFill>
              <a:srgbClr val="F4B942">
                <a:alpha val="80000"/>
              </a:srgbClr>
            </a:solidFill>
            <a:prstDash val="solid"/>
          </a:ln>
        </p:spPr>
        <p:txBody>
          <a:bodyPr/>
          <a:lstStyle/>
          <a:p>
            <a:endParaRPr lang="es-EC" sz="3200"/>
          </a:p>
        </p:txBody>
      </p:sp>
      <p:sp>
        <p:nvSpPr>
          <p:cNvPr id="26" name="Text 24"/>
          <p:cNvSpPr/>
          <p:nvPr/>
        </p:nvSpPr>
        <p:spPr>
          <a:xfrm>
            <a:off x="9171432" y="4252030"/>
            <a:ext cx="1728216" cy="146304"/>
          </a:xfrm>
          <a:prstGeom prst="rect">
            <a:avLst/>
          </a:prstGeom>
          <a:noFill/>
          <a:ln/>
        </p:spPr>
        <p:txBody>
          <a:bodyPr wrap="square" lIns="0" tIns="0" rIns="0" bIns="0" rtlCol="0" anchor="ctr"/>
          <a:lstStyle/>
          <a:p>
            <a:pPr marL="0" indent="0" algn="ctr">
              <a:buNone/>
            </a:pPr>
            <a:r>
              <a:rPr lang="en-US" sz="1100" b="1" dirty="0">
                <a:solidFill>
                  <a:srgbClr val="F4B942"/>
                </a:solidFill>
              </a:rPr>
              <a:t>Facilidad de implementación</a:t>
            </a:r>
            <a:endParaRPr lang="en-US" sz="1100" dirty="0"/>
          </a:p>
        </p:txBody>
      </p:sp>
      <p:sp>
        <p:nvSpPr>
          <p:cNvPr id="27" name="Text 25"/>
          <p:cNvSpPr/>
          <p:nvPr/>
        </p:nvSpPr>
        <p:spPr>
          <a:xfrm>
            <a:off x="6529754" y="4919394"/>
            <a:ext cx="4389120" cy="329184"/>
          </a:xfrm>
          <a:prstGeom prst="rect">
            <a:avLst/>
          </a:prstGeom>
          <a:noFill/>
          <a:ln/>
        </p:spPr>
        <p:txBody>
          <a:bodyPr wrap="square" lIns="0" tIns="0" rIns="0" bIns="0" rtlCol="0" anchor="ctr"/>
          <a:lstStyle/>
          <a:p>
            <a:pPr marL="0" indent="0">
              <a:buNone/>
            </a:pPr>
            <a:r>
              <a:rPr lang="en-US" i="1" dirty="0">
                <a:solidFill>
                  <a:srgbClr val="9BAEC5"/>
                </a:solidFill>
              </a:rPr>
              <a:t>Menos complejidad técnica sin sacrificar el resultado.</a:t>
            </a:r>
            <a:endParaRPr lang="en-US" dirty="0"/>
          </a:p>
        </p:txBody>
      </p:sp>
      <p:sp>
        <p:nvSpPr>
          <p:cNvPr id="29" name="Slide Number Placeholder 0"/>
          <p:cNvSpPr>
            <a:spLocks noGrp="1"/>
          </p:cNvSpPr>
          <p:nvPr>
            <p:ph type="sldNum" sz="quarter" idx="4294967295"/>
          </p:nvPr>
        </p:nvSpPr>
        <p:spPr>
          <a:xfrm>
            <a:off x="11384280" y="6428232"/>
            <a:ext cx="457200" cy="182880"/>
          </a:xfrm>
          <a:prstGeom prst="rect">
            <a:avLst/>
          </a:prstGeom>
          <a:extLst>
            <a:ext uri="{C572A759-6A51-4108-AA02-DFA0A04FC94B}">
              <ma14:wrappingTextBoxFlag xmlns="" xmlns:ma14="http://schemas.microsoft.com/office/mac/drawingml/2011/main" val="0"/>
            </a:ext>
          </a:extLst>
        </p:spPr>
        <p:txBody>
          <a:bodyPr/>
          <a:lstStyle>
            <a:lvl1pPr>
              <a:defRPr sz="700">
                <a:solidFill>
                  <a:srgbClr val="58708F"/>
                </a:solidFill>
                <a:latin typeface="Aptos"/>
                <a:ea typeface="Aptos"/>
                <a:cs typeface="Aptos"/>
              </a:defRPr>
            </a:lvl1pPr>
          </a:lstStyle>
          <a:p>
            <a:pPr algn="r"/>
            <a:fld id="{F7021451-1387-4CA6-816F-3879F97B5CBC}" type="slidenum">
              <a:rPr lang="en-US" sz="1050" b="0"/>
              <a:t>3</a:t>
            </a:fld>
            <a:endParaRPr lang="en-US" sz="105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9" name="Picture 38" descr="73ea2217-3aa7-5ba4-8da8-6a1c1835f362.jpg"/>
          <p:cNvPicPr>
            <a:picLocks noChangeAspect="1"/>
          </p:cNvPicPr>
          <p:nvPr/>
        </p:nvPicPr>
        <p:blipFill>
          <a:blip r:embed="rId3"/>
          <a:stretch>
            <a:fillRect/>
          </a:stretch>
        </p:blipFill>
        <p:spPr>
          <a:xfrm>
            <a:off x="0" y="0"/>
            <a:ext cx="12192000" cy="6858000"/>
          </a:xfrm>
          <a:prstGeom prst="rect">
            <a:avLst/>
          </a:prstGeom>
        </p:spPr>
      </p:pic>
      <p:sp>
        <p:nvSpPr>
          <p:cNvPr id="2" name="Text 0"/>
          <p:cNvSpPr/>
          <p:nvPr/>
        </p:nvSpPr>
        <p:spPr>
          <a:xfrm>
            <a:off x="777240" y="320040"/>
            <a:ext cx="7132320" cy="201168"/>
          </a:xfrm>
          <a:prstGeom prst="rect">
            <a:avLst/>
          </a:prstGeom>
          <a:noFill/>
          <a:ln/>
        </p:spPr>
        <p:txBody>
          <a:bodyPr wrap="square" lIns="0" tIns="0" rIns="0" bIns="0" rtlCol="0" anchor="ctr"/>
          <a:lstStyle/>
          <a:p>
            <a:pPr marL="0" indent="0">
              <a:buNone/>
            </a:pPr>
            <a:r>
              <a:rPr lang="en-US" sz="800" b="1" kern="0" spc="80" dirty="0">
                <a:solidFill>
                  <a:srgbClr val="9BAEC5"/>
                </a:solidFill>
                <a:latin typeface="Aptos" pitchFamily="34" charset="0"/>
                <a:ea typeface="Aptos" pitchFamily="34" charset="-122"/>
                <a:cs typeface="Aptos" pitchFamily="34" charset="-120"/>
              </a:rPr>
              <a:t>DE UNA IMAGEN A UNA DECISIÓN REGISTRADA</a:t>
            </a:r>
            <a:endParaRPr lang="en-US" sz="800" dirty="0"/>
          </a:p>
        </p:txBody>
      </p:sp>
      <p:sp>
        <p:nvSpPr>
          <p:cNvPr id="3" name="Text 1"/>
          <p:cNvSpPr/>
          <p:nvPr/>
        </p:nvSpPr>
        <p:spPr>
          <a:xfrm>
            <a:off x="777240" y="603504"/>
            <a:ext cx="8046720" cy="420624"/>
          </a:xfrm>
          <a:prstGeom prst="rect">
            <a:avLst/>
          </a:prstGeom>
          <a:noFill/>
          <a:ln/>
        </p:spPr>
        <p:txBody>
          <a:bodyPr wrap="square" lIns="0" tIns="0" rIns="0" bIns="0" rtlCol="0" anchor="ctr"/>
          <a:lstStyle/>
          <a:p>
            <a:pPr marL="0" indent="0">
              <a:buNone/>
            </a:pPr>
            <a:r>
              <a:rPr lang="en-US" sz="2400" b="1" dirty="0">
                <a:solidFill>
                  <a:srgbClr val="F8FAFC"/>
                </a:solidFill>
                <a:latin typeface="Aptos Display" pitchFamily="34" charset="0"/>
                <a:ea typeface="Aptos Display" pitchFamily="34" charset="-122"/>
                <a:cs typeface="Aptos Display" pitchFamily="34" charset="-120"/>
              </a:rPr>
              <a:t>Cómo funciona SIRAP</a:t>
            </a:r>
            <a:endParaRPr lang="en-US" sz="2400" dirty="0"/>
          </a:p>
        </p:txBody>
      </p:sp>
      <p:sp>
        <p:nvSpPr>
          <p:cNvPr id="4" name="Text 2"/>
          <p:cNvSpPr/>
          <p:nvPr/>
        </p:nvSpPr>
        <p:spPr>
          <a:xfrm>
            <a:off x="10817352" y="393192"/>
            <a:ext cx="640080" cy="201168"/>
          </a:xfrm>
          <a:prstGeom prst="rect">
            <a:avLst/>
          </a:prstGeom>
          <a:noFill/>
          <a:ln/>
        </p:spPr>
        <p:txBody>
          <a:bodyPr wrap="square" lIns="0" tIns="0" rIns="0" bIns="0" rtlCol="0" anchor="ctr"/>
          <a:lstStyle/>
          <a:p>
            <a:pPr marL="0" indent="0" algn="r">
              <a:buNone/>
            </a:pPr>
            <a:r>
              <a:rPr lang="en-US" sz="800" b="1" dirty="0">
                <a:solidFill>
                  <a:srgbClr val="F4B942"/>
                </a:solidFill>
                <a:latin typeface="Aptos" pitchFamily="34" charset="0"/>
                <a:ea typeface="Aptos" pitchFamily="34" charset="-122"/>
                <a:cs typeface="Aptos" pitchFamily="34" charset="-120"/>
              </a:rPr>
              <a:t>00:20</a:t>
            </a:r>
            <a:endParaRPr lang="en-US" sz="800" dirty="0"/>
          </a:p>
        </p:txBody>
      </p:sp>
      <p:sp>
        <p:nvSpPr>
          <p:cNvPr id="5" name="Text 3"/>
          <p:cNvSpPr/>
          <p:nvPr/>
        </p:nvSpPr>
        <p:spPr>
          <a:xfrm>
            <a:off x="10607040" y="768096"/>
            <a:ext cx="841248" cy="182880"/>
          </a:xfrm>
          <a:prstGeom prst="rect">
            <a:avLst/>
          </a:prstGeom>
          <a:noFill/>
          <a:ln/>
        </p:spPr>
        <p:txBody>
          <a:bodyPr wrap="square" lIns="0" tIns="0" rIns="0" bIns="0" rtlCol="0" anchor="ctr"/>
          <a:lstStyle/>
          <a:p>
            <a:pPr marL="0" indent="0" algn="r">
              <a:buNone/>
            </a:pPr>
            <a:r>
              <a:rPr lang="en-US" sz="750" dirty="0">
                <a:solidFill>
                  <a:srgbClr val="607792"/>
                </a:solidFill>
                <a:latin typeface="Aptos" pitchFamily="34" charset="0"/>
                <a:ea typeface="Aptos" pitchFamily="34" charset="-122"/>
                <a:cs typeface="Aptos" pitchFamily="34" charset="-120"/>
              </a:rPr>
              <a:t>04 / 08</a:t>
            </a:r>
            <a:endParaRPr lang="en-US" sz="750" dirty="0"/>
          </a:p>
        </p:txBody>
      </p:sp>
      <p:sp>
        <p:nvSpPr>
          <p:cNvPr id="6" name="Shape 4"/>
          <p:cNvSpPr/>
          <p:nvPr/>
        </p:nvSpPr>
        <p:spPr>
          <a:xfrm>
            <a:off x="822960" y="1797066"/>
            <a:ext cx="1783080" cy="2148840"/>
          </a:xfrm>
          <a:prstGeom prst="roundRect">
            <a:avLst>
              <a:gd name="adj" fmla="val 3590"/>
            </a:avLst>
          </a:prstGeom>
          <a:solidFill>
            <a:srgbClr val="10233C"/>
          </a:solidFill>
          <a:ln w="12700">
            <a:solidFill>
              <a:srgbClr val="2DD4BF"/>
            </a:solidFill>
            <a:prstDash val="solid"/>
          </a:ln>
          <a:effectLst>
            <a:outerShdw blurRad="15240" dist="6350" dir="2700000" algn="bl" rotWithShape="0">
              <a:srgbClr val="000000">
                <a:alpha val="18000"/>
              </a:srgbClr>
            </a:outerShdw>
          </a:effectLst>
        </p:spPr>
        <p:txBody>
          <a:bodyPr/>
          <a:lstStyle/>
          <a:p>
            <a:endParaRPr lang="es-EC"/>
          </a:p>
        </p:txBody>
      </p:sp>
      <p:sp>
        <p:nvSpPr>
          <p:cNvPr id="7" name="Shape 5"/>
          <p:cNvSpPr/>
          <p:nvPr/>
        </p:nvSpPr>
        <p:spPr>
          <a:xfrm>
            <a:off x="960120" y="1847088"/>
            <a:ext cx="347472" cy="347472"/>
          </a:xfrm>
          <a:prstGeom prst="ellipse">
            <a:avLst/>
          </a:prstGeom>
          <a:solidFill>
            <a:srgbClr val="2DD4BF"/>
          </a:solidFill>
          <a:ln w="12700">
            <a:solidFill>
              <a:srgbClr val="2DD4BF"/>
            </a:solidFill>
            <a:prstDash val="solid"/>
          </a:ln>
        </p:spPr>
        <p:txBody>
          <a:bodyPr/>
          <a:lstStyle/>
          <a:p>
            <a:endParaRPr lang="es-EC"/>
          </a:p>
        </p:txBody>
      </p:sp>
      <p:sp>
        <p:nvSpPr>
          <p:cNvPr id="8" name="Text 6"/>
          <p:cNvSpPr/>
          <p:nvPr/>
        </p:nvSpPr>
        <p:spPr>
          <a:xfrm>
            <a:off x="960120" y="1924812"/>
            <a:ext cx="347472" cy="146304"/>
          </a:xfrm>
          <a:prstGeom prst="rect">
            <a:avLst/>
          </a:prstGeom>
          <a:noFill/>
          <a:ln/>
        </p:spPr>
        <p:txBody>
          <a:bodyPr wrap="square" lIns="0" tIns="0" rIns="0" bIns="0" rtlCol="0" anchor="ctr"/>
          <a:lstStyle/>
          <a:p>
            <a:pPr marL="0" indent="0" algn="ctr">
              <a:buNone/>
            </a:pPr>
            <a:r>
              <a:rPr lang="en-US" sz="760" b="1" dirty="0">
                <a:solidFill>
                  <a:srgbClr val="06111F"/>
                </a:solidFill>
              </a:rPr>
              <a:t>01</a:t>
            </a:r>
            <a:endParaRPr lang="en-US" sz="760" dirty="0"/>
          </a:p>
        </p:txBody>
      </p:sp>
      <p:sp>
        <p:nvSpPr>
          <p:cNvPr id="9" name="Text 7"/>
          <p:cNvSpPr/>
          <p:nvPr/>
        </p:nvSpPr>
        <p:spPr>
          <a:xfrm>
            <a:off x="1417320" y="1819656"/>
            <a:ext cx="960120" cy="256032"/>
          </a:xfrm>
          <a:prstGeom prst="rect">
            <a:avLst/>
          </a:prstGeom>
          <a:noFill/>
          <a:ln/>
        </p:spPr>
        <p:txBody>
          <a:bodyPr wrap="square" lIns="0" tIns="0" rIns="0" bIns="0" rtlCol="0" anchor="ctr"/>
          <a:lstStyle/>
          <a:p>
            <a:pPr marL="0" indent="0">
              <a:buNone/>
            </a:pPr>
            <a:r>
              <a:rPr lang="en-US" sz="1100" b="1" dirty="0">
                <a:solidFill>
                  <a:srgbClr val="F8FAFC"/>
                </a:solidFill>
              </a:rPr>
              <a:t>Captura</a:t>
            </a:r>
            <a:endParaRPr lang="en-US" sz="1100" dirty="0"/>
          </a:p>
        </p:txBody>
      </p:sp>
      <p:sp>
        <p:nvSpPr>
          <p:cNvPr id="10" name="Text 8"/>
          <p:cNvSpPr/>
          <p:nvPr/>
        </p:nvSpPr>
        <p:spPr>
          <a:xfrm>
            <a:off x="987552" y="2423160"/>
            <a:ext cx="1444752" cy="804672"/>
          </a:xfrm>
          <a:prstGeom prst="rect">
            <a:avLst/>
          </a:prstGeom>
          <a:noFill/>
          <a:ln/>
        </p:spPr>
        <p:txBody>
          <a:bodyPr wrap="square" lIns="0" tIns="0" rIns="0" bIns="0" rtlCol="0" anchor="ctr"/>
          <a:lstStyle/>
          <a:p>
            <a:pPr marL="0" indent="0">
              <a:buNone/>
            </a:pPr>
            <a:r>
              <a:rPr lang="en-US" sz="1600" dirty="0">
                <a:solidFill>
                  <a:srgbClr val="D7E1EE"/>
                </a:solidFill>
              </a:rPr>
              <a:t>Imagen o video</a:t>
            </a:r>
            <a:endParaRPr lang="en-US" sz="1600" dirty="0"/>
          </a:p>
          <a:p>
            <a:pPr marL="0" indent="0">
              <a:buNone/>
            </a:pPr>
            <a:r>
              <a:rPr lang="en-US" sz="1600" dirty="0">
                <a:solidFill>
                  <a:srgbClr val="D7E1EE"/>
                </a:solidFill>
              </a:rPr>
              <a:t>Validación de formato</a:t>
            </a:r>
            <a:endParaRPr lang="en-US" sz="1600" dirty="0"/>
          </a:p>
        </p:txBody>
      </p:sp>
      <p:sp>
        <p:nvSpPr>
          <p:cNvPr id="11" name="Shape 9"/>
          <p:cNvSpPr/>
          <p:nvPr/>
        </p:nvSpPr>
        <p:spPr>
          <a:xfrm>
            <a:off x="2633472" y="2743200"/>
            <a:ext cx="228600" cy="0"/>
          </a:xfrm>
          <a:prstGeom prst="line">
            <a:avLst/>
          </a:prstGeom>
          <a:noFill/>
          <a:ln w="25400">
            <a:solidFill>
              <a:srgbClr val="2DD4BF"/>
            </a:solidFill>
            <a:prstDash val="solid"/>
            <a:headEnd type="none"/>
            <a:tailEnd type="triangle"/>
          </a:ln>
        </p:spPr>
        <p:txBody>
          <a:bodyPr/>
          <a:lstStyle/>
          <a:p>
            <a:endParaRPr lang="es-EC"/>
          </a:p>
        </p:txBody>
      </p:sp>
      <p:sp>
        <p:nvSpPr>
          <p:cNvPr id="12" name="Shape 10"/>
          <p:cNvSpPr/>
          <p:nvPr/>
        </p:nvSpPr>
        <p:spPr>
          <a:xfrm>
            <a:off x="2971800" y="1797068"/>
            <a:ext cx="1783080" cy="2148840"/>
          </a:xfrm>
          <a:prstGeom prst="roundRect">
            <a:avLst>
              <a:gd name="adj" fmla="val 3590"/>
            </a:avLst>
          </a:prstGeom>
          <a:solidFill>
            <a:srgbClr val="10233C"/>
          </a:solidFill>
          <a:ln w="12700">
            <a:solidFill>
              <a:srgbClr val="60A5FA"/>
            </a:solidFill>
            <a:prstDash val="solid"/>
          </a:ln>
          <a:effectLst>
            <a:outerShdw blurRad="15240" dist="6350" dir="2700000" algn="bl" rotWithShape="0">
              <a:srgbClr val="000000">
                <a:alpha val="18000"/>
              </a:srgbClr>
            </a:outerShdw>
          </a:effectLst>
        </p:spPr>
        <p:txBody>
          <a:bodyPr/>
          <a:lstStyle/>
          <a:p>
            <a:endParaRPr lang="es-EC" dirty="0"/>
          </a:p>
        </p:txBody>
      </p:sp>
      <p:sp>
        <p:nvSpPr>
          <p:cNvPr id="13" name="Shape 11"/>
          <p:cNvSpPr/>
          <p:nvPr/>
        </p:nvSpPr>
        <p:spPr>
          <a:xfrm>
            <a:off x="3108960" y="1847088"/>
            <a:ext cx="347472" cy="347472"/>
          </a:xfrm>
          <a:prstGeom prst="ellipse">
            <a:avLst/>
          </a:prstGeom>
          <a:solidFill>
            <a:srgbClr val="60A5FA"/>
          </a:solidFill>
          <a:ln w="12700">
            <a:solidFill>
              <a:srgbClr val="60A5FA"/>
            </a:solidFill>
            <a:prstDash val="solid"/>
          </a:ln>
        </p:spPr>
        <p:txBody>
          <a:bodyPr/>
          <a:lstStyle/>
          <a:p>
            <a:endParaRPr lang="es-EC"/>
          </a:p>
        </p:txBody>
      </p:sp>
      <p:sp>
        <p:nvSpPr>
          <p:cNvPr id="14" name="Text 12"/>
          <p:cNvSpPr/>
          <p:nvPr/>
        </p:nvSpPr>
        <p:spPr>
          <a:xfrm>
            <a:off x="3108960" y="1924812"/>
            <a:ext cx="347472" cy="146304"/>
          </a:xfrm>
          <a:prstGeom prst="rect">
            <a:avLst/>
          </a:prstGeom>
          <a:noFill/>
          <a:ln/>
        </p:spPr>
        <p:txBody>
          <a:bodyPr wrap="square" lIns="0" tIns="0" rIns="0" bIns="0" rtlCol="0" anchor="ctr"/>
          <a:lstStyle/>
          <a:p>
            <a:pPr marL="0" indent="0" algn="ctr">
              <a:buNone/>
            </a:pPr>
            <a:r>
              <a:rPr lang="en-US" sz="760" b="1" dirty="0">
                <a:solidFill>
                  <a:srgbClr val="06111F"/>
                </a:solidFill>
              </a:rPr>
              <a:t>02</a:t>
            </a:r>
            <a:endParaRPr lang="en-US" sz="760" dirty="0"/>
          </a:p>
        </p:txBody>
      </p:sp>
      <p:sp>
        <p:nvSpPr>
          <p:cNvPr id="15" name="Text 13"/>
          <p:cNvSpPr/>
          <p:nvPr/>
        </p:nvSpPr>
        <p:spPr>
          <a:xfrm>
            <a:off x="3566160" y="1819656"/>
            <a:ext cx="960120" cy="256032"/>
          </a:xfrm>
          <a:prstGeom prst="rect">
            <a:avLst/>
          </a:prstGeom>
          <a:noFill/>
          <a:ln/>
        </p:spPr>
        <p:txBody>
          <a:bodyPr wrap="square" lIns="0" tIns="0" rIns="0" bIns="0" rtlCol="0" anchor="ctr"/>
          <a:lstStyle/>
          <a:p>
            <a:pPr marL="0" indent="0">
              <a:buNone/>
            </a:pPr>
            <a:r>
              <a:rPr lang="en-US" sz="1100" b="1" dirty="0">
                <a:solidFill>
                  <a:srgbClr val="F8FAFC"/>
                </a:solidFill>
              </a:rPr>
              <a:t>IA reconoce</a:t>
            </a:r>
            <a:endParaRPr lang="en-US" sz="1100" dirty="0"/>
          </a:p>
        </p:txBody>
      </p:sp>
      <p:sp>
        <p:nvSpPr>
          <p:cNvPr id="16" name="Text 14"/>
          <p:cNvSpPr/>
          <p:nvPr/>
        </p:nvSpPr>
        <p:spPr>
          <a:xfrm>
            <a:off x="3136392" y="2423160"/>
            <a:ext cx="1444752" cy="804672"/>
          </a:xfrm>
          <a:prstGeom prst="rect">
            <a:avLst/>
          </a:prstGeom>
          <a:noFill/>
          <a:ln/>
        </p:spPr>
        <p:txBody>
          <a:bodyPr wrap="square" lIns="0" tIns="0" rIns="0" bIns="0" rtlCol="0" anchor="ctr"/>
          <a:lstStyle/>
          <a:p>
            <a:pPr marL="0" indent="0">
              <a:buNone/>
            </a:pPr>
            <a:r>
              <a:rPr lang="en-US" sz="1600" dirty="0">
                <a:solidFill>
                  <a:srgbClr val="D7E1EE"/>
                </a:solidFill>
              </a:rPr>
              <a:t>YOLO </a:t>
            </a:r>
            <a:r>
              <a:rPr lang="en-US" dirty="0">
                <a:solidFill>
                  <a:srgbClr val="D7E1EE"/>
                </a:solidFill>
              </a:rPr>
              <a:t>encuentra</a:t>
            </a:r>
            <a:r>
              <a:rPr lang="en-US" sz="1600" dirty="0">
                <a:solidFill>
                  <a:srgbClr val="D7E1EE"/>
                </a:solidFill>
              </a:rPr>
              <a:t> la placa</a:t>
            </a:r>
            <a:endParaRPr lang="en-US" sz="1600" dirty="0"/>
          </a:p>
          <a:p>
            <a:pPr marL="0" indent="0">
              <a:buNone/>
            </a:pPr>
            <a:r>
              <a:rPr lang="en-US" sz="1600" dirty="0">
                <a:solidFill>
                  <a:srgbClr val="D7E1EE"/>
                </a:solidFill>
              </a:rPr>
              <a:t>OCR lee caracteres</a:t>
            </a:r>
            <a:endParaRPr lang="en-US" sz="1600" dirty="0"/>
          </a:p>
        </p:txBody>
      </p:sp>
      <p:sp>
        <p:nvSpPr>
          <p:cNvPr id="17" name="Shape 15"/>
          <p:cNvSpPr/>
          <p:nvPr/>
        </p:nvSpPr>
        <p:spPr>
          <a:xfrm>
            <a:off x="4782312" y="2743200"/>
            <a:ext cx="228600" cy="0"/>
          </a:xfrm>
          <a:prstGeom prst="line">
            <a:avLst/>
          </a:prstGeom>
          <a:noFill/>
          <a:ln w="25400">
            <a:solidFill>
              <a:srgbClr val="60A5FA"/>
            </a:solidFill>
            <a:prstDash val="solid"/>
            <a:headEnd type="none"/>
            <a:tailEnd type="triangle"/>
          </a:ln>
        </p:spPr>
        <p:txBody>
          <a:bodyPr/>
          <a:lstStyle/>
          <a:p>
            <a:endParaRPr lang="es-EC"/>
          </a:p>
        </p:txBody>
      </p:sp>
      <p:sp>
        <p:nvSpPr>
          <p:cNvPr id="18" name="Shape 16"/>
          <p:cNvSpPr/>
          <p:nvPr/>
        </p:nvSpPr>
        <p:spPr>
          <a:xfrm>
            <a:off x="5120640" y="1781436"/>
            <a:ext cx="1783080" cy="2148840"/>
          </a:xfrm>
          <a:prstGeom prst="roundRect">
            <a:avLst>
              <a:gd name="adj" fmla="val 3590"/>
            </a:avLst>
          </a:prstGeom>
          <a:solidFill>
            <a:srgbClr val="10233C"/>
          </a:solidFill>
          <a:ln w="12700">
            <a:solidFill>
              <a:srgbClr val="F4B942"/>
            </a:solidFill>
            <a:prstDash val="solid"/>
          </a:ln>
          <a:effectLst>
            <a:outerShdw blurRad="15240" dist="6350" dir="2700000" algn="bl" rotWithShape="0">
              <a:srgbClr val="000000">
                <a:alpha val="18000"/>
              </a:srgbClr>
            </a:outerShdw>
          </a:effectLst>
        </p:spPr>
        <p:txBody>
          <a:bodyPr/>
          <a:lstStyle/>
          <a:p>
            <a:endParaRPr lang="es-EC"/>
          </a:p>
        </p:txBody>
      </p:sp>
      <p:sp>
        <p:nvSpPr>
          <p:cNvPr id="19" name="Shape 17"/>
          <p:cNvSpPr/>
          <p:nvPr/>
        </p:nvSpPr>
        <p:spPr>
          <a:xfrm>
            <a:off x="5257800" y="1847088"/>
            <a:ext cx="347472" cy="347472"/>
          </a:xfrm>
          <a:prstGeom prst="ellipse">
            <a:avLst/>
          </a:prstGeom>
          <a:solidFill>
            <a:srgbClr val="F4B942"/>
          </a:solidFill>
          <a:ln w="12700">
            <a:solidFill>
              <a:srgbClr val="F4B942"/>
            </a:solidFill>
            <a:prstDash val="solid"/>
          </a:ln>
        </p:spPr>
        <p:txBody>
          <a:bodyPr/>
          <a:lstStyle/>
          <a:p>
            <a:endParaRPr lang="es-EC"/>
          </a:p>
        </p:txBody>
      </p:sp>
      <p:sp>
        <p:nvSpPr>
          <p:cNvPr id="20" name="Text 18"/>
          <p:cNvSpPr/>
          <p:nvPr/>
        </p:nvSpPr>
        <p:spPr>
          <a:xfrm>
            <a:off x="5257800" y="1924812"/>
            <a:ext cx="347472" cy="146304"/>
          </a:xfrm>
          <a:prstGeom prst="rect">
            <a:avLst/>
          </a:prstGeom>
          <a:noFill/>
          <a:ln/>
        </p:spPr>
        <p:txBody>
          <a:bodyPr wrap="square" lIns="0" tIns="0" rIns="0" bIns="0" rtlCol="0" anchor="ctr"/>
          <a:lstStyle/>
          <a:p>
            <a:pPr marL="0" indent="0" algn="ctr">
              <a:buNone/>
            </a:pPr>
            <a:r>
              <a:rPr lang="en-US" sz="760" b="1" dirty="0">
                <a:solidFill>
                  <a:srgbClr val="06111F"/>
                </a:solidFill>
              </a:rPr>
              <a:t>03</a:t>
            </a:r>
            <a:endParaRPr lang="en-US" sz="760" dirty="0"/>
          </a:p>
        </p:txBody>
      </p:sp>
      <p:sp>
        <p:nvSpPr>
          <p:cNvPr id="21" name="Text 19"/>
          <p:cNvSpPr/>
          <p:nvPr/>
        </p:nvSpPr>
        <p:spPr>
          <a:xfrm>
            <a:off x="5715000" y="1819656"/>
            <a:ext cx="960120" cy="256032"/>
          </a:xfrm>
          <a:prstGeom prst="rect">
            <a:avLst/>
          </a:prstGeom>
          <a:noFill/>
          <a:ln/>
        </p:spPr>
        <p:txBody>
          <a:bodyPr wrap="square" lIns="0" tIns="0" rIns="0" bIns="0" rtlCol="0" anchor="ctr"/>
          <a:lstStyle/>
          <a:p>
            <a:pPr marL="0" indent="0">
              <a:buNone/>
            </a:pPr>
            <a:r>
              <a:rPr lang="en-US" sz="1100" b="1" dirty="0">
                <a:solidFill>
                  <a:srgbClr val="F8FAFC"/>
                </a:solidFill>
              </a:rPr>
              <a:t>Consulta reglas</a:t>
            </a:r>
            <a:endParaRPr lang="en-US" sz="1100" dirty="0"/>
          </a:p>
        </p:txBody>
      </p:sp>
      <p:sp>
        <p:nvSpPr>
          <p:cNvPr id="22" name="Text 20"/>
          <p:cNvSpPr/>
          <p:nvPr/>
        </p:nvSpPr>
        <p:spPr>
          <a:xfrm>
            <a:off x="5285232" y="2423160"/>
            <a:ext cx="1444752" cy="804672"/>
          </a:xfrm>
          <a:prstGeom prst="rect">
            <a:avLst/>
          </a:prstGeom>
          <a:noFill/>
          <a:ln/>
        </p:spPr>
        <p:txBody>
          <a:bodyPr wrap="square" lIns="0" tIns="0" rIns="0" bIns="0" rtlCol="0" anchor="ctr"/>
          <a:lstStyle/>
          <a:p>
            <a:pPr marL="0" indent="0">
              <a:buNone/>
            </a:pPr>
            <a:r>
              <a:rPr lang="en-US" sz="1600" dirty="0">
                <a:solidFill>
                  <a:srgbClr val="D7E1EE"/>
                </a:solidFill>
              </a:rPr>
              <a:t>Confianza + listas</a:t>
            </a:r>
            <a:endParaRPr lang="en-US" sz="1600" dirty="0"/>
          </a:p>
          <a:p>
            <a:pPr marL="0" indent="0">
              <a:buNone/>
            </a:pPr>
            <a:r>
              <a:rPr lang="en-US" sz="1600" dirty="0">
                <a:solidFill>
                  <a:srgbClr val="D7E1EE"/>
                </a:solidFill>
              </a:rPr>
              <a:t>autorizada / restringida</a:t>
            </a:r>
            <a:endParaRPr lang="en-US" sz="1600" dirty="0"/>
          </a:p>
        </p:txBody>
      </p:sp>
      <p:sp>
        <p:nvSpPr>
          <p:cNvPr id="23" name="Shape 21"/>
          <p:cNvSpPr/>
          <p:nvPr/>
        </p:nvSpPr>
        <p:spPr>
          <a:xfrm>
            <a:off x="6931152" y="2743200"/>
            <a:ext cx="228600" cy="0"/>
          </a:xfrm>
          <a:prstGeom prst="line">
            <a:avLst/>
          </a:prstGeom>
          <a:noFill/>
          <a:ln w="25400">
            <a:solidFill>
              <a:srgbClr val="F4B942"/>
            </a:solidFill>
            <a:prstDash val="solid"/>
            <a:headEnd type="none"/>
            <a:tailEnd type="triangle"/>
          </a:ln>
        </p:spPr>
        <p:txBody>
          <a:bodyPr/>
          <a:lstStyle/>
          <a:p>
            <a:endParaRPr lang="es-EC"/>
          </a:p>
        </p:txBody>
      </p:sp>
      <p:sp>
        <p:nvSpPr>
          <p:cNvPr id="24" name="Shape 22"/>
          <p:cNvSpPr/>
          <p:nvPr/>
        </p:nvSpPr>
        <p:spPr>
          <a:xfrm>
            <a:off x="7269480" y="1789249"/>
            <a:ext cx="1783080" cy="2148840"/>
          </a:xfrm>
          <a:prstGeom prst="roundRect">
            <a:avLst>
              <a:gd name="adj" fmla="val 3590"/>
            </a:avLst>
          </a:prstGeom>
          <a:solidFill>
            <a:srgbClr val="10233C"/>
          </a:solidFill>
          <a:ln w="12700">
            <a:solidFill>
              <a:srgbClr val="66D9A7"/>
            </a:solidFill>
            <a:prstDash val="solid"/>
          </a:ln>
          <a:effectLst>
            <a:outerShdw blurRad="15240" dist="6350" dir="2700000" algn="bl" rotWithShape="0">
              <a:srgbClr val="000000">
                <a:alpha val="18000"/>
              </a:srgbClr>
            </a:outerShdw>
          </a:effectLst>
        </p:spPr>
        <p:txBody>
          <a:bodyPr/>
          <a:lstStyle/>
          <a:p>
            <a:endParaRPr lang="es-EC"/>
          </a:p>
        </p:txBody>
      </p:sp>
      <p:sp>
        <p:nvSpPr>
          <p:cNvPr id="25" name="Shape 23"/>
          <p:cNvSpPr/>
          <p:nvPr/>
        </p:nvSpPr>
        <p:spPr>
          <a:xfrm>
            <a:off x="7406640" y="1847088"/>
            <a:ext cx="347472" cy="347472"/>
          </a:xfrm>
          <a:prstGeom prst="ellipse">
            <a:avLst/>
          </a:prstGeom>
          <a:solidFill>
            <a:srgbClr val="66D9A7"/>
          </a:solidFill>
          <a:ln w="12700">
            <a:solidFill>
              <a:srgbClr val="66D9A7"/>
            </a:solidFill>
            <a:prstDash val="solid"/>
          </a:ln>
        </p:spPr>
        <p:txBody>
          <a:bodyPr/>
          <a:lstStyle/>
          <a:p>
            <a:endParaRPr lang="es-EC"/>
          </a:p>
        </p:txBody>
      </p:sp>
      <p:sp>
        <p:nvSpPr>
          <p:cNvPr id="26" name="Text 24"/>
          <p:cNvSpPr/>
          <p:nvPr/>
        </p:nvSpPr>
        <p:spPr>
          <a:xfrm>
            <a:off x="7406640" y="1924812"/>
            <a:ext cx="347472" cy="146304"/>
          </a:xfrm>
          <a:prstGeom prst="rect">
            <a:avLst/>
          </a:prstGeom>
          <a:noFill/>
          <a:ln/>
        </p:spPr>
        <p:txBody>
          <a:bodyPr wrap="square" lIns="0" tIns="0" rIns="0" bIns="0" rtlCol="0" anchor="ctr"/>
          <a:lstStyle/>
          <a:p>
            <a:pPr marL="0" indent="0" algn="ctr">
              <a:buNone/>
            </a:pPr>
            <a:r>
              <a:rPr lang="en-US" sz="760" b="1" dirty="0">
                <a:solidFill>
                  <a:srgbClr val="06111F"/>
                </a:solidFill>
              </a:rPr>
              <a:t>04</a:t>
            </a:r>
            <a:endParaRPr lang="en-US" sz="760" dirty="0"/>
          </a:p>
        </p:txBody>
      </p:sp>
      <p:sp>
        <p:nvSpPr>
          <p:cNvPr id="27" name="Text 25"/>
          <p:cNvSpPr/>
          <p:nvPr/>
        </p:nvSpPr>
        <p:spPr>
          <a:xfrm>
            <a:off x="7863840" y="1819656"/>
            <a:ext cx="960120" cy="256032"/>
          </a:xfrm>
          <a:prstGeom prst="rect">
            <a:avLst/>
          </a:prstGeom>
          <a:noFill/>
          <a:ln/>
        </p:spPr>
        <p:txBody>
          <a:bodyPr wrap="square" lIns="0" tIns="0" rIns="0" bIns="0" rtlCol="0" anchor="ctr"/>
          <a:lstStyle/>
          <a:p>
            <a:pPr marL="0" indent="0">
              <a:buNone/>
            </a:pPr>
            <a:r>
              <a:rPr lang="en-US" sz="1100" b="1" dirty="0">
                <a:solidFill>
                  <a:srgbClr val="F8FAFC"/>
                </a:solidFill>
              </a:rPr>
              <a:t>Revisión humana</a:t>
            </a:r>
            <a:endParaRPr lang="en-US" sz="1100" dirty="0"/>
          </a:p>
        </p:txBody>
      </p:sp>
      <p:sp>
        <p:nvSpPr>
          <p:cNvPr id="28" name="Text 26"/>
          <p:cNvSpPr/>
          <p:nvPr/>
        </p:nvSpPr>
        <p:spPr>
          <a:xfrm>
            <a:off x="7434072" y="2423160"/>
            <a:ext cx="1444752" cy="804672"/>
          </a:xfrm>
          <a:prstGeom prst="rect">
            <a:avLst/>
          </a:prstGeom>
          <a:noFill/>
          <a:ln/>
        </p:spPr>
        <p:txBody>
          <a:bodyPr wrap="square" lIns="0" tIns="0" rIns="0" bIns="0" rtlCol="0" anchor="ctr"/>
          <a:lstStyle/>
          <a:p>
            <a:pPr marL="0" indent="0">
              <a:buNone/>
            </a:pPr>
            <a:r>
              <a:rPr lang="en-US" dirty="0">
                <a:solidFill>
                  <a:srgbClr val="D7E1EE"/>
                </a:solidFill>
              </a:rPr>
              <a:t>Operador revisa</a:t>
            </a:r>
            <a:endParaRPr lang="en-US" dirty="0"/>
          </a:p>
          <a:p>
            <a:pPr marL="0" indent="0">
              <a:buNone/>
            </a:pPr>
            <a:r>
              <a:rPr lang="en-US" dirty="0">
                <a:solidFill>
                  <a:srgbClr val="D7E1EE"/>
                </a:solidFill>
              </a:rPr>
              <a:t>y puede corregir</a:t>
            </a:r>
            <a:endParaRPr lang="en-US" dirty="0"/>
          </a:p>
        </p:txBody>
      </p:sp>
      <p:sp>
        <p:nvSpPr>
          <p:cNvPr id="29" name="Shape 27"/>
          <p:cNvSpPr/>
          <p:nvPr/>
        </p:nvSpPr>
        <p:spPr>
          <a:xfrm>
            <a:off x="9079992" y="2743200"/>
            <a:ext cx="228600" cy="0"/>
          </a:xfrm>
          <a:prstGeom prst="line">
            <a:avLst/>
          </a:prstGeom>
          <a:noFill/>
          <a:ln w="25400">
            <a:solidFill>
              <a:srgbClr val="66D9A7"/>
            </a:solidFill>
            <a:prstDash val="solid"/>
            <a:headEnd type="none"/>
            <a:tailEnd type="triangle"/>
          </a:ln>
        </p:spPr>
        <p:txBody>
          <a:bodyPr/>
          <a:lstStyle/>
          <a:p>
            <a:endParaRPr lang="es-EC"/>
          </a:p>
        </p:txBody>
      </p:sp>
      <p:sp>
        <p:nvSpPr>
          <p:cNvPr id="30" name="Shape 28"/>
          <p:cNvSpPr/>
          <p:nvPr/>
        </p:nvSpPr>
        <p:spPr>
          <a:xfrm>
            <a:off x="9418320" y="1781436"/>
            <a:ext cx="1783080" cy="2148840"/>
          </a:xfrm>
          <a:prstGeom prst="roundRect">
            <a:avLst>
              <a:gd name="adj" fmla="val 3590"/>
            </a:avLst>
          </a:prstGeom>
          <a:solidFill>
            <a:srgbClr val="10233C"/>
          </a:solidFill>
          <a:ln w="12700">
            <a:solidFill>
              <a:srgbClr val="2DD4BF"/>
            </a:solidFill>
            <a:prstDash val="solid"/>
          </a:ln>
          <a:effectLst>
            <a:outerShdw blurRad="15240" dist="6350" dir="2700000" algn="bl" rotWithShape="0">
              <a:srgbClr val="000000">
                <a:alpha val="18000"/>
              </a:srgbClr>
            </a:outerShdw>
          </a:effectLst>
        </p:spPr>
        <p:txBody>
          <a:bodyPr/>
          <a:lstStyle/>
          <a:p>
            <a:endParaRPr lang="es-EC"/>
          </a:p>
        </p:txBody>
      </p:sp>
      <p:sp>
        <p:nvSpPr>
          <p:cNvPr id="31" name="Shape 29"/>
          <p:cNvSpPr/>
          <p:nvPr/>
        </p:nvSpPr>
        <p:spPr>
          <a:xfrm>
            <a:off x="9555480" y="1847088"/>
            <a:ext cx="347472" cy="347472"/>
          </a:xfrm>
          <a:prstGeom prst="ellipse">
            <a:avLst/>
          </a:prstGeom>
          <a:solidFill>
            <a:srgbClr val="2DD4BF"/>
          </a:solidFill>
          <a:ln w="12700">
            <a:solidFill>
              <a:srgbClr val="2DD4BF"/>
            </a:solidFill>
            <a:prstDash val="solid"/>
          </a:ln>
        </p:spPr>
        <p:txBody>
          <a:bodyPr/>
          <a:lstStyle/>
          <a:p>
            <a:endParaRPr lang="es-EC"/>
          </a:p>
        </p:txBody>
      </p:sp>
      <p:sp>
        <p:nvSpPr>
          <p:cNvPr id="32" name="Text 30"/>
          <p:cNvSpPr/>
          <p:nvPr/>
        </p:nvSpPr>
        <p:spPr>
          <a:xfrm>
            <a:off x="9555480" y="1924812"/>
            <a:ext cx="347472" cy="146304"/>
          </a:xfrm>
          <a:prstGeom prst="rect">
            <a:avLst/>
          </a:prstGeom>
          <a:noFill/>
          <a:ln/>
        </p:spPr>
        <p:txBody>
          <a:bodyPr wrap="square" lIns="0" tIns="0" rIns="0" bIns="0" rtlCol="0" anchor="ctr"/>
          <a:lstStyle/>
          <a:p>
            <a:pPr marL="0" indent="0" algn="ctr">
              <a:buNone/>
            </a:pPr>
            <a:r>
              <a:rPr lang="en-US" sz="760" b="1" dirty="0">
                <a:solidFill>
                  <a:srgbClr val="06111F"/>
                </a:solidFill>
              </a:rPr>
              <a:t>05</a:t>
            </a:r>
            <a:endParaRPr lang="en-US" sz="760" dirty="0"/>
          </a:p>
        </p:txBody>
      </p:sp>
      <p:sp>
        <p:nvSpPr>
          <p:cNvPr id="33" name="Text 31"/>
          <p:cNvSpPr/>
          <p:nvPr/>
        </p:nvSpPr>
        <p:spPr>
          <a:xfrm>
            <a:off x="10012680" y="1819656"/>
            <a:ext cx="960120" cy="256032"/>
          </a:xfrm>
          <a:prstGeom prst="rect">
            <a:avLst/>
          </a:prstGeom>
          <a:noFill/>
          <a:ln/>
        </p:spPr>
        <p:txBody>
          <a:bodyPr wrap="square" lIns="0" tIns="0" rIns="0" bIns="0" rtlCol="0" anchor="ctr"/>
          <a:lstStyle/>
          <a:p>
            <a:pPr marL="0" indent="0">
              <a:buNone/>
            </a:pPr>
            <a:r>
              <a:rPr lang="en-US" sz="1100" b="1" dirty="0">
                <a:solidFill>
                  <a:srgbClr val="F8FAFC"/>
                </a:solidFill>
              </a:rPr>
              <a:t>Registro</a:t>
            </a:r>
            <a:endParaRPr lang="en-US" sz="1100" dirty="0"/>
          </a:p>
        </p:txBody>
      </p:sp>
      <p:sp>
        <p:nvSpPr>
          <p:cNvPr id="34" name="Text 32"/>
          <p:cNvSpPr/>
          <p:nvPr/>
        </p:nvSpPr>
        <p:spPr>
          <a:xfrm>
            <a:off x="9582912" y="2423160"/>
            <a:ext cx="1444752" cy="804672"/>
          </a:xfrm>
          <a:prstGeom prst="rect">
            <a:avLst/>
          </a:prstGeom>
          <a:noFill/>
          <a:ln/>
        </p:spPr>
        <p:txBody>
          <a:bodyPr wrap="square" lIns="0" tIns="0" rIns="0" bIns="0" rtlCol="0" anchor="ctr"/>
          <a:lstStyle/>
          <a:p>
            <a:pPr marL="0" indent="0">
              <a:buNone/>
            </a:pPr>
            <a:r>
              <a:rPr lang="en-US" sz="1600" dirty="0">
                <a:solidFill>
                  <a:srgbClr val="D7E1EE"/>
                </a:solidFill>
              </a:rPr>
              <a:t>API valida otra vez</a:t>
            </a:r>
            <a:endParaRPr lang="en-US" sz="1600" dirty="0"/>
          </a:p>
          <a:p>
            <a:pPr marL="0" indent="0">
              <a:buNone/>
            </a:pPr>
            <a:r>
              <a:rPr lang="en-US" sz="1600" dirty="0">
                <a:solidFill>
                  <a:srgbClr val="D7E1EE"/>
                </a:solidFill>
              </a:rPr>
              <a:t>y registra la operación</a:t>
            </a:r>
            <a:endParaRPr lang="en-US" sz="1600" dirty="0"/>
          </a:p>
        </p:txBody>
      </p:sp>
      <p:sp>
        <p:nvSpPr>
          <p:cNvPr id="35" name="Shape 33"/>
          <p:cNvSpPr/>
          <p:nvPr/>
        </p:nvSpPr>
        <p:spPr>
          <a:xfrm>
            <a:off x="1143000" y="4315968"/>
            <a:ext cx="9692640" cy="1051560"/>
          </a:xfrm>
          <a:prstGeom prst="roundRect">
            <a:avLst>
              <a:gd name="adj" fmla="val 6087"/>
            </a:avLst>
          </a:prstGeom>
          <a:solidFill>
            <a:srgbClr val="0D1D33"/>
          </a:solidFill>
          <a:ln w="12700">
            <a:solidFill>
              <a:srgbClr val="223A57"/>
            </a:solidFill>
            <a:prstDash val="solid"/>
          </a:ln>
        </p:spPr>
        <p:txBody>
          <a:bodyPr/>
          <a:lstStyle/>
          <a:p>
            <a:endParaRPr lang="es-EC"/>
          </a:p>
        </p:txBody>
      </p:sp>
      <p:sp>
        <p:nvSpPr>
          <p:cNvPr id="36" name="Text 34"/>
          <p:cNvSpPr/>
          <p:nvPr/>
        </p:nvSpPr>
        <p:spPr>
          <a:xfrm>
            <a:off x="1417320" y="4590288"/>
            <a:ext cx="1600200" cy="237744"/>
          </a:xfrm>
          <a:prstGeom prst="rect">
            <a:avLst/>
          </a:prstGeom>
          <a:noFill/>
          <a:ln/>
        </p:spPr>
        <p:txBody>
          <a:bodyPr wrap="square" lIns="0" tIns="0" rIns="0" bIns="0" rtlCol="0" anchor="ctr"/>
          <a:lstStyle/>
          <a:p>
            <a:pPr marL="0" indent="0">
              <a:buNone/>
            </a:pPr>
            <a:r>
              <a:rPr lang="en-US" b="1" dirty="0">
                <a:solidFill>
                  <a:srgbClr val="F4B942"/>
                </a:solidFill>
              </a:rPr>
              <a:t>Si la lectura es dudosa:</a:t>
            </a:r>
            <a:endParaRPr lang="en-US" dirty="0"/>
          </a:p>
        </p:txBody>
      </p:sp>
      <p:sp>
        <p:nvSpPr>
          <p:cNvPr id="37" name="Text 35"/>
          <p:cNvSpPr/>
          <p:nvPr/>
        </p:nvSpPr>
        <p:spPr>
          <a:xfrm>
            <a:off x="3200400" y="4590288"/>
            <a:ext cx="4937760" cy="237744"/>
          </a:xfrm>
          <a:prstGeom prst="rect">
            <a:avLst/>
          </a:prstGeom>
          <a:noFill/>
          <a:ln/>
        </p:spPr>
        <p:txBody>
          <a:bodyPr wrap="square" lIns="0" tIns="0" rIns="0" bIns="0" rtlCol="0" anchor="ctr"/>
          <a:lstStyle/>
          <a:p>
            <a:pPr marL="0" indent="0">
              <a:buNone/>
            </a:pPr>
            <a:r>
              <a:rPr lang="en-US" sz="2000" dirty="0">
                <a:solidFill>
                  <a:srgbClr val="D7E1EE"/>
                </a:solidFill>
              </a:rPr>
              <a:t>el sistema pide verificación manual antes de registrar o continuar.</a:t>
            </a:r>
            <a:endParaRPr lang="en-US" sz="2000" dirty="0"/>
          </a:p>
        </p:txBody>
      </p:sp>
      <p:sp>
        <p:nvSpPr>
          <p:cNvPr id="40" name="Slide Number Placeholder 0"/>
          <p:cNvSpPr>
            <a:spLocks noGrp="1"/>
          </p:cNvSpPr>
          <p:nvPr>
            <p:ph type="sldNum" sz="quarter" idx="4294967295"/>
          </p:nvPr>
        </p:nvSpPr>
        <p:spPr>
          <a:xfrm>
            <a:off x="11384280" y="6428232"/>
            <a:ext cx="457200" cy="182880"/>
          </a:xfrm>
          <a:prstGeom prst="rect">
            <a:avLst/>
          </a:prstGeom>
          <a:extLst>
            <a:ext uri="{C572A759-6A51-4108-AA02-DFA0A04FC94B}">
              <ma14:wrappingTextBoxFlag xmlns="" xmlns:ma14="http://schemas.microsoft.com/office/mac/drawingml/2011/main" val="0"/>
            </a:ext>
          </a:extLst>
        </p:spPr>
        <p:txBody>
          <a:bodyPr/>
          <a:lstStyle>
            <a:lvl1pPr>
              <a:defRPr sz="700">
                <a:solidFill>
                  <a:srgbClr val="58708F"/>
                </a:solidFill>
                <a:latin typeface="Aptos"/>
                <a:ea typeface="Aptos"/>
                <a:cs typeface="Aptos"/>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6" name="Picture 25" descr="73ea2217-3aa7-5ba4-8da8-6a1c1835f362.jpg"/>
          <p:cNvPicPr>
            <a:picLocks noChangeAspect="1"/>
          </p:cNvPicPr>
          <p:nvPr/>
        </p:nvPicPr>
        <p:blipFill>
          <a:blip r:embed="rId5"/>
          <a:stretch>
            <a:fillRect/>
          </a:stretch>
        </p:blipFill>
        <p:spPr>
          <a:xfrm>
            <a:off x="0" y="0"/>
            <a:ext cx="12192000" cy="6858000"/>
          </a:xfrm>
          <a:prstGeom prst="rect">
            <a:avLst/>
          </a:prstGeom>
        </p:spPr>
      </p:pic>
      <p:sp>
        <p:nvSpPr>
          <p:cNvPr id="2" name="Text 0"/>
          <p:cNvSpPr/>
          <p:nvPr/>
        </p:nvSpPr>
        <p:spPr>
          <a:xfrm>
            <a:off x="777240" y="320040"/>
            <a:ext cx="7132320" cy="201168"/>
          </a:xfrm>
          <a:prstGeom prst="rect">
            <a:avLst/>
          </a:prstGeom>
          <a:noFill/>
          <a:ln/>
        </p:spPr>
        <p:txBody>
          <a:bodyPr wrap="square" lIns="0" tIns="0" rIns="0" bIns="0" rtlCol="0" anchor="ctr"/>
          <a:lstStyle/>
          <a:p>
            <a:pPr marL="0" indent="0">
              <a:buNone/>
            </a:pPr>
            <a:r>
              <a:rPr lang="en-US" sz="1600" b="1" kern="0" spc="80" dirty="0">
                <a:solidFill>
                  <a:srgbClr val="9BAEC5"/>
                </a:solidFill>
                <a:latin typeface="Aptos" pitchFamily="34" charset="0"/>
                <a:ea typeface="Aptos" pitchFamily="34" charset="-122"/>
                <a:cs typeface="Aptos" pitchFamily="34" charset="-120"/>
              </a:rPr>
              <a:t>DEMOSTRACIÓN DE LA APLICACIÓN REAL</a:t>
            </a:r>
            <a:endParaRPr lang="en-US" sz="1600" dirty="0"/>
          </a:p>
        </p:txBody>
      </p:sp>
      <p:sp>
        <p:nvSpPr>
          <p:cNvPr id="3" name="Text 1"/>
          <p:cNvSpPr/>
          <p:nvPr/>
        </p:nvSpPr>
        <p:spPr>
          <a:xfrm>
            <a:off x="777240" y="603504"/>
            <a:ext cx="8046720" cy="420624"/>
          </a:xfrm>
          <a:prstGeom prst="rect">
            <a:avLst/>
          </a:prstGeom>
          <a:noFill/>
          <a:ln/>
        </p:spPr>
        <p:txBody>
          <a:bodyPr wrap="square" lIns="0" tIns="0" rIns="0" bIns="0" rtlCol="0" anchor="ctr"/>
          <a:lstStyle/>
          <a:p>
            <a:pPr marL="0" indent="0">
              <a:buNone/>
            </a:pPr>
            <a:r>
              <a:rPr lang="en-US" sz="2400" b="1" dirty="0">
                <a:solidFill>
                  <a:srgbClr val="F8FAFC"/>
                </a:solidFill>
                <a:latin typeface="Aptos Display" pitchFamily="34" charset="0"/>
                <a:ea typeface="Aptos Display" pitchFamily="34" charset="-122"/>
                <a:cs typeface="Aptos Display" pitchFamily="34" charset="-120"/>
              </a:rPr>
              <a:t>SIRAP en funcionamiento</a:t>
            </a:r>
            <a:endParaRPr lang="en-US" sz="2400" dirty="0"/>
          </a:p>
        </p:txBody>
      </p:sp>
      <p:sp>
        <p:nvSpPr>
          <p:cNvPr id="4" name="Text 2"/>
          <p:cNvSpPr/>
          <p:nvPr/>
        </p:nvSpPr>
        <p:spPr>
          <a:xfrm>
            <a:off x="10817352" y="393192"/>
            <a:ext cx="640080" cy="201168"/>
          </a:xfrm>
          <a:prstGeom prst="rect">
            <a:avLst/>
          </a:prstGeom>
          <a:noFill/>
          <a:ln/>
        </p:spPr>
        <p:txBody>
          <a:bodyPr wrap="square" lIns="0" tIns="0" rIns="0" bIns="0" rtlCol="0" anchor="ctr"/>
          <a:lstStyle/>
          <a:p>
            <a:pPr marL="0" indent="0" algn="r">
              <a:buNone/>
            </a:pPr>
            <a:r>
              <a:rPr lang="en-US" sz="1600" b="1" dirty="0">
                <a:solidFill>
                  <a:srgbClr val="F4B942"/>
                </a:solidFill>
                <a:latin typeface="Aptos" pitchFamily="34" charset="0"/>
                <a:ea typeface="Aptos" pitchFamily="34" charset="-122"/>
                <a:cs typeface="Aptos" pitchFamily="34" charset="-120"/>
              </a:rPr>
              <a:t>00:40</a:t>
            </a:r>
            <a:endParaRPr lang="en-US" sz="1600" dirty="0"/>
          </a:p>
        </p:txBody>
      </p:sp>
      <p:sp>
        <p:nvSpPr>
          <p:cNvPr id="5" name="Text 3"/>
          <p:cNvSpPr/>
          <p:nvPr/>
        </p:nvSpPr>
        <p:spPr>
          <a:xfrm>
            <a:off x="10607040" y="768096"/>
            <a:ext cx="841248" cy="182880"/>
          </a:xfrm>
          <a:prstGeom prst="rect">
            <a:avLst/>
          </a:prstGeom>
          <a:noFill/>
          <a:ln/>
        </p:spPr>
        <p:txBody>
          <a:bodyPr wrap="square" lIns="0" tIns="0" rIns="0" bIns="0" rtlCol="0" anchor="ctr"/>
          <a:lstStyle/>
          <a:p>
            <a:pPr marL="0" indent="0" algn="r">
              <a:buNone/>
            </a:pPr>
            <a:r>
              <a:rPr lang="en-US" sz="1400" dirty="0">
                <a:solidFill>
                  <a:srgbClr val="607792"/>
                </a:solidFill>
                <a:latin typeface="Aptos" pitchFamily="34" charset="0"/>
                <a:ea typeface="Aptos" pitchFamily="34" charset="-122"/>
                <a:cs typeface="Aptos" pitchFamily="34" charset="-120"/>
              </a:rPr>
              <a:t>05 / 08</a:t>
            </a:r>
            <a:endParaRPr lang="en-US" sz="1400" dirty="0"/>
          </a:p>
        </p:txBody>
      </p:sp>
      <p:sp>
        <p:nvSpPr>
          <p:cNvPr id="6" name="Shape 4"/>
          <p:cNvSpPr/>
          <p:nvPr/>
        </p:nvSpPr>
        <p:spPr>
          <a:xfrm>
            <a:off x="822960" y="1417320"/>
            <a:ext cx="7315200" cy="4526280"/>
          </a:xfrm>
          <a:prstGeom prst="roundRect">
            <a:avLst>
              <a:gd name="adj" fmla="val 1414"/>
            </a:avLst>
          </a:prstGeom>
          <a:solidFill>
            <a:srgbClr val="0A1B30"/>
          </a:solidFill>
          <a:ln w="12700">
            <a:solidFill>
              <a:srgbClr val="294563"/>
            </a:solidFill>
            <a:prstDash val="solid"/>
          </a:ln>
          <a:effectLst>
            <a:outerShdw blurRad="15240" dist="6350" dir="2700000" algn="bl" rotWithShape="0">
              <a:srgbClr val="000000">
                <a:alpha val="18000"/>
              </a:srgbClr>
            </a:outerShdw>
          </a:effectLst>
        </p:spPr>
        <p:txBody>
          <a:bodyPr/>
          <a:lstStyle/>
          <a:p>
            <a:endParaRPr lang="es-EC" sz="4400"/>
          </a:p>
        </p:txBody>
      </p:sp>
      <p:sp>
        <p:nvSpPr>
          <p:cNvPr id="7" name="Shape 5"/>
          <p:cNvSpPr/>
          <p:nvPr/>
        </p:nvSpPr>
        <p:spPr>
          <a:xfrm>
            <a:off x="3840480" y="2926080"/>
            <a:ext cx="658368" cy="658368"/>
          </a:xfrm>
          <a:prstGeom prst="ellipse">
            <a:avLst/>
          </a:prstGeom>
          <a:solidFill>
            <a:srgbClr val="183C58"/>
          </a:solidFill>
          <a:ln w="19050">
            <a:solidFill>
              <a:srgbClr val="2DD4BF"/>
            </a:solidFill>
            <a:prstDash val="solid"/>
          </a:ln>
        </p:spPr>
        <p:txBody>
          <a:bodyPr/>
          <a:lstStyle/>
          <a:p>
            <a:endParaRPr lang="es-EC" sz="4400"/>
          </a:p>
        </p:txBody>
      </p:sp>
      <p:sp>
        <p:nvSpPr>
          <p:cNvPr id="8" name="Text 6"/>
          <p:cNvSpPr/>
          <p:nvPr/>
        </p:nvSpPr>
        <p:spPr>
          <a:xfrm>
            <a:off x="4023360" y="3063240"/>
            <a:ext cx="274320" cy="201168"/>
          </a:xfrm>
          <a:prstGeom prst="rect">
            <a:avLst/>
          </a:prstGeom>
          <a:noFill/>
          <a:ln/>
        </p:spPr>
        <p:txBody>
          <a:bodyPr wrap="square" lIns="0" tIns="0" rIns="0" bIns="0" rtlCol="0" anchor="ctr"/>
          <a:lstStyle/>
          <a:p>
            <a:pPr marL="0" indent="0" algn="ctr">
              <a:buNone/>
            </a:pPr>
            <a:r>
              <a:rPr lang="en-US" sz="4000" b="1" dirty="0">
                <a:solidFill>
                  <a:srgbClr val="2DD4BF"/>
                </a:solidFill>
              </a:rPr>
              <a:t>▶</a:t>
            </a:r>
            <a:endParaRPr lang="en-US" sz="4000" dirty="0"/>
          </a:p>
        </p:txBody>
      </p:sp>
      <p:sp>
        <p:nvSpPr>
          <p:cNvPr id="9" name="Text 7"/>
          <p:cNvSpPr/>
          <p:nvPr/>
        </p:nvSpPr>
        <p:spPr>
          <a:xfrm>
            <a:off x="1828800" y="3794760"/>
            <a:ext cx="5303520" cy="310896"/>
          </a:xfrm>
          <a:prstGeom prst="rect">
            <a:avLst/>
          </a:prstGeom>
          <a:noFill/>
          <a:ln/>
        </p:spPr>
        <p:txBody>
          <a:bodyPr wrap="square" lIns="0" tIns="0" rIns="0" bIns="0" rtlCol="0" anchor="ctr"/>
          <a:lstStyle/>
          <a:p>
            <a:pPr marL="0" indent="0" algn="ctr">
              <a:buNone/>
            </a:pPr>
            <a:r>
              <a:rPr lang="en-US" sz="3600" b="1" dirty="0">
                <a:solidFill>
                  <a:srgbClr val="D7E1EE"/>
                </a:solidFill>
              </a:rPr>
              <a:t>INSERTAR AQUÍ LA GRABACIÓN REAL</a:t>
            </a:r>
            <a:endParaRPr lang="en-US" sz="3600" dirty="0"/>
          </a:p>
        </p:txBody>
      </p:sp>
      <p:sp>
        <p:nvSpPr>
          <p:cNvPr id="10" name="Text 8"/>
          <p:cNvSpPr/>
          <p:nvPr/>
        </p:nvSpPr>
        <p:spPr>
          <a:xfrm>
            <a:off x="2057400" y="4187952"/>
            <a:ext cx="4846320" cy="256032"/>
          </a:xfrm>
          <a:prstGeom prst="rect">
            <a:avLst/>
          </a:prstGeom>
          <a:noFill/>
          <a:ln/>
        </p:spPr>
        <p:txBody>
          <a:bodyPr wrap="square" lIns="0" tIns="0" rIns="0" bIns="0" rtlCol="0" anchor="ctr"/>
          <a:lstStyle/>
          <a:p>
            <a:pPr marL="0" indent="0" algn="ctr">
              <a:buNone/>
            </a:pPr>
            <a:r>
              <a:rPr lang="en-US" dirty="0">
                <a:solidFill>
                  <a:srgbClr val="9BAEC5"/>
                </a:solidFill>
              </a:rPr>
              <a:t>Captura continua de la aplicación publicada · mínimo 720p</a:t>
            </a:r>
            <a:endParaRPr lang="en-US" dirty="0"/>
          </a:p>
        </p:txBody>
      </p:sp>
      <p:sp>
        <p:nvSpPr>
          <p:cNvPr id="12" name="Text 10"/>
          <p:cNvSpPr/>
          <p:nvPr/>
        </p:nvSpPr>
        <p:spPr>
          <a:xfrm>
            <a:off x="8549640" y="1901952"/>
            <a:ext cx="2011680" cy="274320"/>
          </a:xfrm>
          <a:prstGeom prst="rect">
            <a:avLst/>
          </a:prstGeom>
          <a:noFill/>
          <a:ln/>
        </p:spPr>
        <p:txBody>
          <a:bodyPr wrap="square" lIns="0" tIns="0" rIns="0" bIns="0" rtlCol="0" anchor="ctr"/>
          <a:lstStyle/>
          <a:p>
            <a:pPr marL="0" indent="0">
              <a:buNone/>
            </a:pPr>
            <a:r>
              <a:rPr lang="en-US" sz="2800" b="1" dirty="0">
                <a:solidFill>
                  <a:srgbClr val="F8FAFC"/>
                </a:solidFill>
              </a:rPr>
              <a:t>Caso autorizado</a:t>
            </a:r>
            <a:endParaRPr lang="en-US" sz="2800" dirty="0"/>
          </a:p>
        </p:txBody>
      </p:sp>
      <p:sp>
        <p:nvSpPr>
          <p:cNvPr id="13" name="Text 11"/>
          <p:cNvSpPr/>
          <p:nvPr/>
        </p:nvSpPr>
        <p:spPr>
          <a:xfrm>
            <a:off x="8533814" y="2464619"/>
            <a:ext cx="2377440" cy="530352"/>
          </a:xfrm>
          <a:prstGeom prst="rect">
            <a:avLst/>
          </a:prstGeom>
          <a:noFill/>
          <a:ln/>
        </p:spPr>
        <p:txBody>
          <a:bodyPr wrap="square" lIns="0" tIns="0" rIns="0" bIns="0" rtlCol="0" anchor="ctr"/>
          <a:lstStyle/>
          <a:p>
            <a:pPr marL="0" indent="0">
              <a:buNone/>
            </a:pPr>
            <a:r>
              <a:rPr lang="en-US" sz="1600" dirty="0">
                <a:solidFill>
                  <a:srgbClr val="D7E1EE"/>
                </a:solidFill>
              </a:rPr>
              <a:t>Placa + confianza + resultado. El operador registra.</a:t>
            </a:r>
            <a:endParaRPr lang="en-US" sz="1600" dirty="0"/>
          </a:p>
        </p:txBody>
      </p:sp>
      <p:sp>
        <p:nvSpPr>
          <p:cNvPr id="14" name="Shape 12"/>
          <p:cNvSpPr/>
          <p:nvPr/>
        </p:nvSpPr>
        <p:spPr>
          <a:xfrm>
            <a:off x="8488094" y="3163824"/>
            <a:ext cx="2423160" cy="0"/>
          </a:xfrm>
          <a:prstGeom prst="line">
            <a:avLst/>
          </a:prstGeom>
          <a:noFill/>
          <a:ln w="12700">
            <a:solidFill>
              <a:srgbClr val="223A57"/>
            </a:solidFill>
            <a:prstDash val="solid"/>
          </a:ln>
        </p:spPr>
        <p:txBody>
          <a:bodyPr/>
          <a:lstStyle/>
          <a:p>
            <a:endParaRPr lang="es-EC" sz="4400" dirty="0"/>
          </a:p>
        </p:txBody>
      </p:sp>
      <p:sp>
        <p:nvSpPr>
          <p:cNvPr id="16" name="Text 14"/>
          <p:cNvSpPr/>
          <p:nvPr/>
        </p:nvSpPr>
        <p:spPr>
          <a:xfrm>
            <a:off x="8549640" y="3401568"/>
            <a:ext cx="2514600" cy="274320"/>
          </a:xfrm>
          <a:prstGeom prst="rect">
            <a:avLst/>
          </a:prstGeom>
          <a:noFill/>
          <a:ln/>
        </p:spPr>
        <p:txBody>
          <a:bodyPr wrap="square" lIns="0" tIns="0" rIns="0" bIns="0" rtlCol="0" anchor="ctr"/>
          <a:lstStyle/>
          <a:p>
            <a:pPr marL="0" indent="0">
              <a:buNone/>
            </a:pPr>
            <a:r>
              <a:rPr lang="en-US" sz="2400" b="1" dirty="0">
                <a:solidFill>
                  <a:srgbClr val="F8FAFC"/>
                </a:solidFill>
              </a:rPr>
              <a:t>Restringido / no registrado</a:t>
            </a:r>
            <a:endParaRPr lang="en-US" sz="2400" dirty="0"/>
          </a:p>
        </p:txBody>
      </p:sp>
      <p:sp>
        <p:nvSpPr>
          <p:cNvPr id="17" name="Text 15"/>
          <p:cNvSpPr/>
          <p:nvPr/>
        </p:nvSpPr>
        <p:spPr>
          <a:xfrm>
            <a:off x="8549640" y="3978792"/>
            <a:ext cx="2423160" cy="530352"/>
          </a:xfrm>
          <a:prstGeom prst="rect">
            <a:avLst/>
          </a:prstGeom>
          <a:noFill/>
          <a:ln/>
        </p:spPr>
        <p:txBody>
          <a:bodyPr wrap="square" lIns="0" tIns="0" rIns="0" bIns="0" rtlCol="0" anchor="ctr"/>
          <a:lstStyle/>
          <a:p>
            <a:pPr marL="0" indent="0">
              <a:buNone/>
            </a:pPr>
            <a:r>
              <a:rPr lang="en-US" sz="1600" dirty="0">
                <a:solidFill>
                  <a:srgbClr val="D7E1EE"/>
                </a:solidFill>
              </a:rPr>
              <a:t>SIRAP explica el estado y no continúa automáticamente.</a:t>
            </a:r>
            <a:endParaRPr lang="en-US" sz="1600" dirty="0"/>
          </a:p>
        </p:txBody>
      </p:sp>
      <p:sp>
        <p:nvSpPr>
          <p:cNvPr id="18" name="Shape 16"/>
          <p:cNvSpPr/>
          <p:nvPr/>
        </p:nvSpPr>
        <p:spPr>
          <a:xfrm>
            <a:off x="8510954" y="4671334"/>
            <a:ext cx="2423160" cy="0"/>
          </a:xfrm>
          <a:prstGeom prst="line">
            <a:avLst/>
          </a:prstGeom>
          <a:noFill/>
          <a:ln w="12700">
            <a:solidFill>
              <a:srgbClr val="223A57"/>
            </a:solidFill>
            <a:prstDash val="solid"/>
          </a:ln>
        </p:spPr>
        <p:txBody>
          <a:bodyPr/>
          <a:lstStyle/>
          <a:p>
            <a:endParaRPr lang="es-EC" sz="4400"/>
          </a:p>
        </p:txBody>
      </p:sp>
      <p:sp>
        <p:nvSpPr>
          <p:cNvPr id="20" name="Text 18"/>
          <p:cNvSpPr/>
          <p:nvPr/>
        </p:nvSpPr>
        <p:spPr>
          <a:xfrm>
            <a:off x="8549640" y="4892040"/>
            <a:ext cx="2103120" cy="274320"/>
          </a:xfrm>
          <a:prstGeom prst="rect">
            <a:avLst/>
          </a:prstGeom>
          <a:noFill/>
          <a:ln/>
        </p:spPr>
        <p:txBody>
          <a:bodyPr wrap="square" lIns="0" tIns="0" rIns="0" bIns="0" rtlCol="0" anchor="ctr"/>
          <a:lstStyle/>
          <a:p>
            <a:pPr marL="0" indent="0">
              <a:buNone/>
            </a:pPr>
            <a:r>
              <a:rPr lang="en-US" sz="2400" b="1" dirty="0">
                <a:solidFill>
                  <a:srgbClr val="F8FAFC"/>
                </a:solidFill>
              </a:rPr>
              <a:t>Error o baja confianza</a:t>
            </a:r>
            <a:endParaRPr lang="en-US" sz="2400" dirty="0"/>
          </a:p>
        </p:txBody>
      </p:sp>
      <p:sp>
        <p:nvSpPr>
          <p:cNvPr id="21" name="Text 19"/>
          <p:cNvSpPr/>
          <p:nvPr/>
        </p:nvSpPr>
        <p:spPr>
          <a:xfrm>
            <a:off x="8531352" y="5454707"/>
            <a:ext cx="2286000" cy="384048"/>
          </a:xfrm>
          <a:prstGeom prst="rect">
            <a:avLst/>
          </a:prstGeom>
          <a:noFill/>
          <a:ln/>
        </p:spPr>
        <p:txBody>
          <a:bodyPr wrap="square" lIns="0" tIns="0" rIns="0" bIns="0" rtlCol="0" anchor="ctr"/>
          <a:lstStyle/>
          <a:p>
            <a:pPr marL="0" indent="0">
              <a:buNone/>
            </a:pPr>
            <a:r>
              <a:rPr lang="en-US" sz="1600" dirty="0">
                <a:solidFill>
                  <a:srgbClr val="D7E1EE"/>
                </a:solidFill>
              </a:rPr>
              <a:t>Mensaje claro + revisión manual.</a:t>
            </a:r>
            <a:endParaRPr lang="en-US" sz="1600" dirty="0"/>
          </a:p>
        </p:txBody>
      </p:sp>
      <p:sp>
        <p:nvSpPr>
          <p:cNvPr id="25" name="Slide Number Placeholder 0"/>
          <p:cNvSpPr>
            <a:spLocks noGrp="1"/>
          </p:cNvSpPr>
          <p:nvPr>
            <p:ph type="sldNum" sz="quarter" idx="4294967295"/>
          </p:nvPr>
        </p:nvSpPr>
        <p:spPr>
          <a:xfrm>
            <a:off x="11384280" y="6428232"/>
            <a:ext cx="457200" cy="182880"/>
          </a:xfrm>
          <a:prstGeom prst="rect">
            <a:avLst/>
          </a:prstGeom>
          <a:extLst>
            <a:ext uri="{C572A759-6A51-4108-AA02-DFA0A04FC94B}">
              <ma14:wrappingTextBoxFlag xmlns="" xmlns:ma14="http://schemas.microsoft.com/office/mac/drawingml/2011/main" val="0"/>
            </a:ext>
          </a:extLst>
        </p:spPr>
        <p:txBody>
          <a:bodyPr/>
          <a:lstStyle>
            <a:lvl1pPr>
              <a:defRPr sz="700">
                <a:solidFill>
                  <a:srgbClr val="58708F"/>
                </a:solidFill>
                <a:latin typeface="Aptos"/>
                <a:ea typeface="Aptos"/>
                <a:cs typeface="Aptos"/>
              </a:defRPr>
            </a:lvl1pPr>
          </a:lstStyle>
          <a:p>
            <a:pPr algn="r"/>
            <a:fld id="{F7021451-1387-4CA6-816F-3879F97B5CBC}" type="slidenum">
              <a:rPr lang="en-US" sz="1400" b="0"/>
              <a:t>5</a:t>
            </a:fld>
            <a:endParaRPr lang="en-US" sz="1400"/>
          </a:p>
        </p:txBody>
      </p:sp>
      <p:pic>
        <p:nvPicPr>
          <p:cNvPr id="22" name="SIRAP en Accion">
            <a:hlinkClick r:id="" action="ppaction://media"/>
            <a:extLst>
              <a:ext uri="{FF2B5EF4-FFF2-40B4-BE49-F238E27FC236}">
                <a16:creationId xmlns:a16="http://schemas.microsoft.com/office/drawing/2014/main" id="{8742703E-36FF-6DC7-1E63-D01F7726F8ED}"/>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788688" y="1503929"/>
            <a:ext cx="7586763" cy="411048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83967"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2"/>
                </p:tgtEl>
              </p:cMediaNode>
            </p:video>
            <p:seq concurrent="1" nextAc="seek">
              <p:cTn id="8" restart="whenNotActive" fill="hold" evtFilter="cancelBubble" nodeType="interactiveSeq">
                <p:stCondLst>
                  <p:cond evt="onClick" delay="0">
                    <p:tgtEl>
                      <p:spTgt spid="2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2"/>
                                        </p:tgtEl>
                                      </p:cBhvr>
                                    </p:cmd>
                                  </p:childTnLst>
                                </p:cTn>
                              </p:par>
                            </p:childTnLst>
                          </p:cTn>
                        </p:par>
                      </p:childTnLst>
                    </p:cTn>
                  </p:par>
                </p:childTnLst>
              </p:cTn>
              <p:nextCondLst>
                <p:cond evt="onClick" delay="0">
                  <p:tgtEl>
                    <p:spTgt spid="22"/>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7" name="Picture 26" descr="73ea2217-3aa7-5ba4-8da8-6a1c1835f362.jpg"/>
          <p:cNvPicPr>
            <a:picLocks noChangeAspect="1"/>
          </p:cNvPicPr>
          <p:nvPr/>
        </p:nvPicPr>
        <p:blipFill>
          <a:blip r:embed="rId3"/>
          <a:stretch>
            <a:fillRect/>
          </a:stretch>
        </p:blipFill>
        <p:spPr>
          <a:xfrm>
            <a:off x="0" y="0"/>
            <a:ext cx="12192000" cy="6858000"/>
          </a:xfrm>
          <a:prstGeom prst="rect">
            <a:avLst/>
          </a:prstGeom>
        </p:spPr>
      </p:pic>
      <p:sp>
        <p:nvSpPr>
          <p:cNvPr id="2" name="Text 0"/>
          <p:cNvSpPr/>
          <p:nvPr/>
        </p:nvSpPr>
        <p:spPr>
          <a:xfrm>
            <a:off x="777240" y="320040"/>
            <a:ext cx="7132320" cy="201168"/>
          </a:xfrm>
          <a:prstGeom prst="rect">
            <a:avLst/>
          </a:prstGeom>
          <a:noFill/>
          <a:ln/>
        </p:spPr>
        <p:txBody>
          <a:bodyPr wrap="square" lIns="0" tIns="0" rIns="0" bIns="0" rtlCol="0" anchor="ctr"/>
          <a:lstStyle/>
          <a:p>
            <a:pPr marL="0" indent="0">
              <a:buNone/>
            </a:pPr>
            <a:r>
              <a:rPr lang="en-US" sz="1400" b="1" kern="0" spc="80" dirty="0">
                <a:solidFill>
                  <a:srgbClr val="9BAEC5"/>
                </a:solidFill>
                <a:latin typeface="Aptos" pitchFamily="34" charset="0"/>
                <a:ea typeface="Aptos" pitchFamily="34" charset="-122"/>
                <a:cs typeface="Aptos" pitchFamily="34" charset="-120"/>
              </a:rPr>
              <a:t>RESULTADOS</a:t>
            </a:r>
            <a:endParaRPr lang="en-US" sz="1400" dirty="0"/>
          </a:p>
        </p:txBody>
      </p:sp>
      <p:sp>
        <p:nvSpPr>
          <p:cNvPr id="3" name="Text 1"/>
          <p:cNvSpPr/>
          <p:nvPr/>
        </p:nvSpPr>
        <p:spPr>
          <a:xfrm>
            <a:off x="777240" y="603504"/>
            <a:ext cx="8046720" cy="420624"/>
          </a:xfrm>
          <a:prstGeom prst="rect">
            <a:avLst/>
          </a:prstGeom>
          <a:noFill/>
          <a:ln/>
        </p:spPr>
        <p:txBody>
          <a:bodyPr wrap="square" lIns="0" tIns="0" rIns="0" bIns="0" rtlCol="0" anchor="ctr"/>
          <a:lstStyle/>
          <a:p>
            <a:pPr marL="0" indent="0">
              <a:buNone/>
            </a:pPr>
            <a:r>
              <a:rPr lang="en-US" sz="2400" b="1" dirty="0">
                <a:solidFill>
                  <a:srgbClr val="F8FAFC"/>
                </a:solidFill>
                <a:latin typeface="Aptos Display" pitchFamily="34" charset="0"/>
                <a:ea typeface="Aptos Display" pitchFamily="34" charset="-122"/>
                <a:cs typeface="Aptos Display" pitchFamily="34" charset="-120"/>
              </a:rPr>
              <a:t>Qué tan bien funciona</a:t>
            </a:r>
            <a:endParaRPr lang="en-US" sz="2400" dirty="0"/>
          </a:p>
        </p:txBody>
      </p:sp>
      <p:sp>
        <p:nvSpPr>
          <p:cNvPr id="4" name="Text 2"/>
          <p:cNvSpPr/>
          <p:nvPr/>
        </p:nvSpPr>
        <p:spPr>
          <a:xfrm>
            <a:off x="10817352" y="393192"/>
            <a:ext cx="640080" cy="201168"/>
          </a:xfrm>
          <a:prstGeom prst="rect">
            <a:avLst/>
          </a:prstGeom>
          <a:noFill/>
          <a:ln/>
        </p:spPr>
        <p:txBody>
          <a:bodyPr wrap="square" lIns="0" tIns="0" rIns="0" bIns="0" rtlCol="0" anchor="ctr"/>
          <a:lstStyle/>
          <a:p>
            <a:pPr marL="0" indent="0" algn="r">
              <a:buNone/>
            </a:pPr>
            <a:r>
              <a:rPr lang="en-US" sz="1400" b="1" dirty="0">
                <a:solidFill>
                  <a:srgbClr val="F4B942"/>
                </a:solidFill>
                <a:latin typeface="Aptos" pitchFamily="34" charset="0"/>
                <a:ea typeface="Aptos" pitchFamily="34" charset="-122"/>
                <a:cs typeface="Aptos" pitchFamily="34" charset="-120"/>
              </a:rPr>
              <a:t>00:45</a:t>
            </a:r>
            <a:endParaRPr lang="en-US" sz="1400" dirty="0"/>
          </a:p>
        </p:txBody>
      </p:sp>
      <p:sp>
        <p:nvSpPr>
          <p:cNvPr id="5" name="Text 3"/>
          <p:cNvSpPr/>
          <p:nvPr/>
        </p:nvSpPr>
        <p:spPr>
          <a:xfrm>
            <a:off x="10607040" y="768096"/>
            <a:ext cx="841248" cy="182880"/>
          </a:xfrm>
          <a:prstGeom prst="rect">
            <a:avLst/>
          </a:prstGeom>
          <a:noFill/>
          <a:ln/>
        </p:spPr>
        <p:txBody>
          <a:bodyPr wrap="square" lIns="0" tIns="0" rIns="0" bIns="0" rtlCol="0" anchor="ctr"/>
          <a:lstStyle/>
          <a:p>
            <a:pPr marL="0" indent="0" algn="r">
              <a:buNone/>
            </a:pPr>
            <a:r>
              <a:rPr lang="en-US" sz="1200" dirty="0">
                <a:solidFill>
                  <a:srgbClr val="607792"/>
                </a:solidFill>
                <a:latin typeface="Aptos" pitchFamily="34" charset="0"/>
                <a:ea typeface="Aptos" pitchFamily="34" charset="-122"/>
                <a:cs typeface="Aptos" pitchFamily="34" charset="-120"/>
              </a:rPr>
              <a:t>06 / 08</a:t>
            </a:r>
            <a:endParaRPr lang="en-US" sz="1200" dirty="0"/>
          </a:p>
        </p:txBody>
      </p:sp>
      <p:sp>
        <p:nvSpPr>
          <p:cNvPr id="6" name="Shape 4"/>
          <p:cNvSpPr/>
          <p:nvPr/>
        </p:nvSpPr>
        <p:spPr>
          <a:xfrm>
            <a:off x="800100" y="1793784"/>
            <a:ext cx="3246120" cy="1874520"/>
          </a:xfrm>
          <a:prstGeom prst="roundRect">
            <a:avLst>
              <a:gd name="adj" fmla="val 3415"/>
            </a:avLst>
          </a:prstGeom>
          <a:solidFill>
            <a:srgbClr val="10233C"/>
          </a:solidFill>
          <a:ln w="12700">
            <a:solidFill>
              <a:srgbClr val="2DD4BF"/>
            </a:solidFill>
            <a:prstDash val="solid"/>
          </a:ln>
          <a:effectLst>
            <a:outerShdw blurRad="15240" dist="6350" dir="2700000" algn="bl" rotWithShape="0">
              <a:srgbClr val="000000">
                <a:alpha val="18000"/>
              </a:srgbClr>
            </a:outerShdw>
          </a:effectLst>
        </p:spPr>
        <p:txBody>
          <a:bodyPr/>
          <a:lstStyle/>
          <a:p>
            <a:endParaRPr lang="es-EC" sz="4000"/>
          </a:p>
        </p:txBody>
      </p:sp>
      <p:sp>
        <p:nvSpPr>
          <p:cNvPr id="7" name="Text 5"/>
          <p:cNvSpPr/>
          <p:nvPr/>
        </p:nvSpPr>
        <p:spPr>
          <a:xfrm>
            <a:off x="1097280" y="1813524"/>
            <a:ext cx="2651760" cy="457200"/>
          </a:xfrm>
          <a:prstGeom prst="rect">
            <a:avLst/>
          </a:prstGeom>
          <a:noFill/>
          <a:ln/>
        </p:spPr>
        <p:txBody>
          <a:bodyPr wrap="square" lIns="0" tIns="0" rIns="0" bIns="0" rtlCol="0" anchor="ctr"/>
          <a:lstStyle/>
          <a:p>
            <a:pPr marL="0" indent="0">
              <a:buNone/>
            </a:pPr>
            <a:r>
              <a:rPr lang="en-US" sz="4800" b="1" dirty="0">
                <a:solidFill>
                  <a:srgbClr val="2DD4BF"/>
                </a:solidFill>
              </a:rPr>
              <a:t>≈97 %</a:t>
            </a:r>
            <a:endParaRPr lang="en-US" sz="4800" dirty="0"/>
          </a:p>
        </p:txBody>
      </p:sp>
      <p:sp>
        <p:nvSpPr>
          <p:cNvPr id="8" name="Text 6"/>
          <p:cNvSpPr/>
          <p:nvPr/>
        </p:nvSpPr>
        <p:spPr>
          <a:xfrm>
            <a:off x="1097280" y="2426952"/>
            <a:ext cx="2651760" cy="384048"/>
          </a:xfrm>
          <a:prstGeom prst="rect">
            <a:avLst/>
          </a:prstGeom>
          <a:noFill/>
          <a:ln/>
        </p:spPr>
        <p:txBody>
          <a:bodyPr wrap="square" lIns="0" tIns="0" rIns="0" bIns="0" rtlCol="0" anchor="ctr"/>
          <a:lstStyle/>
          <a:p>
            <a:pPr marL="0" indent="0">
              <a:buNone/>
            </a:pPr>
            <a:r>
              <a:rPr lang="en-US" sz="1600" b="1" dirty="0">
                <a:solidFill>
                  <a:srgbClr val="D7E1EE"/>
                </a:solidFill>
              </a:rPr>
              <a:t>efectividad en localización de placas</a:t>
            </a:r>
            <a:endParaRPr lang="en-US" sz="1600" dirty="0"/>
          </a:p>
        </p:txBody>
      </p:sp>
      <p:sp>
        <p:nvSpPr>
          <p:cNvPr id="9" name="Text 7"/>
          <p:cNvSpPr/>
          <p:nvPr/>
        </p:nvSpPr>
        <p:spPr>
          <a:xfrm>
            <a:off x="1082040" y="2930652"/>
            <a:ext cx="2651760" cy="292608"/>
          </a:xfrm>
          <a:prstGeom prst="rect">
            <a:avLst/>
          </a:prstGeom>
          <a:noFill/>
          <a:ln/>
        </p:spPr>
        <p:txBody>
          <a:bodyPr wrap="square" lIns="0" tIns="0" rIns="0" bIns="0" rtlCol="0" anchor="ctr"/>
          <a:lstStyle/>
          <a:p>
            <a:pPr marL="0" indent="0">
              <a:buNone/>
            </a:pPr>
            <a:r>
              <a:rPr lang="en-US" sz="1200" dirty="0">
                <a:solidFill>
                  <a:srgbClr val="9BAEC5"/>
                </a:solidFill>
              </a:rPr>
              <a:t>Precisión cercana al 99 %</a:t>
            </a:r>
            <a:endParaRPr lang="en-US" sz="1200" dirty="0"/>
          </a:p>
        </p:txBody>
      </p:sp>
      <p:sp>
        <p:nvSpPr>
          <p:cNvPr id="10" name="Shape 8"/>
          <p:cNvSpPr/>
          <p:nvPr/>
        </p:nvSpPr>
        <p:spPr>
          <a:xfrm>
            <a:off x="4343400" y="1783080"/>
            <a:ext cx="3246120" cy="1874520"/>
          </a:xfrm>
          <a:prstGeom prst="roundRect">
            <a:avLst>
              <a:gd name="adj" fmla="val 3415"/>
            </a:avLst>
          </a:prstGeom>
          <a:solidFill>
            <a:srgbClr val="10233C"/>
          </a:solidFill>
          <a:ln w="12700">
            <a:solidFill>
              <a:srgbClr val="60A5FA"/>
            </a:solidFill>
            <a:prstDash val="solid"/>
          </a:ln>
          <a:effectLst>
            <a:outerShdw blurRad="15240" dist="6350" dir="2700000" algn="bl" rotWithShape="0">
              <a:srgbClr val="000000">
                <a:alpha val="18000"/>
              </a:srgbClr>
            </a:outerShdw>
          </a:effectLst>
        </p:spPr>
        <p:txBody>
          <a:bodyPr/>
          <a:lstStyle/>
          <a:p>
            <a:endParaRPr lang="es-EC" sz="4000"/>
          </a:p>
        </p:txBody>
      </p:sp>
      <p:sp>
        <p:nvSpPr>
          <p:cNvPr id="11" name="Text 9"/>
          <p:cNvSpPr/>
          <p:nvPr/>
        </p:nvSpPr>
        <p:spPr>
          <a:xfrm>
            <a:off x="4617720" y="1845912"/>
            <a:ext cx="2651760" cy="457200"/>
          </a:xfrm>
          <a:prstGeom prst="rect">
            <a:avLst/>
          </a:prstGeom>
          <a:noFill/>
          <a:ln/>
        </p:spPr>
        <p:txBody>
          <a:bodyPr wrap="square" lIns="0" tIns="0" rIns="0" bIns="0" rtlCol="0" anchor="ctr"/>
          <a:lstStyle/>
          <a:p>
            <a:pPr marL="0" indent="0">
              <a:buNone/>
            </a:pPr>
            <a:r>
              <a:rPr lang="en-US" sz="4800" b="1" dirty="0">
                <a:solidFill>
                  <a:srgbClr val="60A5FA"/>
                </a:solidFill>
              </a:rPr>
              <a:t>94 %</a:t>
            </a:r>
            <a:endParaRPr lang="en-US" sz="4800" dirty="0"/>
          </a:p>
        </p:txBody>
      </p:sp>
      <p:sp>
        <p:nvSpPr>
          <p:cNvPr id="12" name="Text 10"/>
          <p:cNvSpPr/>
          <p:nvPr/>
        </p:nvSpPr>
        <p:spPr>
          <a:xfrm>
            <a:off x="4617720" y="2409087"/>
            <a:ext cx="2651760" cy="384048"/>
          </a:xfrm>
          <a:prstGeom prst="rect">
            <a:avLst/>
          </a:prstGeom>
          <a:noFill/>
          <a:ln/>
        </p:spPr>
        <p:txBody>
          <a:bodyPr wrap="square" lIns="0" tIns="0" rIns="0" bIns="0" rtlCol="0" anchor="ctr"/>
          <a:lstStyle/>
          <a:p>
            <a:pPr marL="0" indent="0">
              <a:buNone/>
            </a:pPr>
            <a:r>
              <a:rPr lang="en-US" sz="1600" b="1" dirty="0">
                <a:solidFill>
                  <a:srgbClr val="D7E1EE"/>
                </a:solidFill>
              </a:rPr>
              <a:t>lecturas OCR completamente correctas</a:t>
            </a:r>
            <a:endParaRPr lang="en-US" sz="1600" dirty="0"/>
          </a:p>
        </p:txBody>
      </p:sp>
      <p:sp>
        <p:nvSpPr>
          <p:cNvPr id="13" name="Text 11"/>
          <p:cNvSpPr/>
          <p:nvPr/>
        </p:nvSpPr>
        <p:spPr>
          <a:xfrm>
            <a:off x="4617720" y="2902863"/>
            <a:ext cx="2651760" cy="292608"/>
          </a:xfrm>
          <a:prstGeom prst="rect">
            <a:avLst/>
          </a:prstGeom>
          <a:noFill/>
          <a:ln/>
        </p:spPr>
        <p:txBody>
          <a:bodyPr wrap="square" lIns="0" tIns="0" rIns="0" bIns="0" rtlCol="0" anchor="ctr"/>
          <a:lstStyle/>
          <a:p>
            <a:pPr marL="0" indent="0">
              <a:buNone/>
            </a:pPr>
            <a:r>
              <a:rPr lang="en-US" sz="1200" dirty="0">
                <a:solidFill>
                  <a:srgbClr val="9BAEC5"/>
                </a:solidFill>
              </a:rPr>
              <a:t>en las placas evaluadas</a:t>
            </a:r>
            <a:endParaRPr lang="en-US" sz="1200" dirty="0"/>
          </a:p>
        </p:txBody>
      </p:sp>
      <p:sp>
        <p:nvSpPr>
          <p:cNvPr id="14" name="Shape 12"/>
          <p:cNvSpPr/>
          <p:nvPr/>
        </p:nvSpPr>
        <p:spPr>
          <a:xfrm>
            <a:off x="7863840" y="1833017"/>
            <a:ext cx="3246120" cy="1874520"/>
          </a:xfrm>
          <a:prstGeom prst="roundRect">
            <a:avLst>
              <a:gd name="adj" fmla="val 3415"/>
            </a:avLst>
          </a:prstGeom>
          <a:noFill/>
          <a:ln w="12700">
            <a:solidFill>
              <a:srgbClr val="F4B942"/>
            </a:solidFill>
            <a:prstDash val="solid"/>
          </a:ln>
          <a:effectLst>
            <a:outerShdw blurRad="15240" dist="6350" dir="2700000" algn="bl" rotWithShape="0">
              <a:srgbClr val="000000">
                <a:alpha val="18000"/>
              </a:srgbClr>
            </a:outerShdw>
          </a:effectLst>
        </p:spPr>
        <p:txBody>
          <a:bodyPr/>
          <a:lstStyle/>
          <a:p>
            <a:endParaRPr lang="es-EC" sz="4000"/>
          </a:p>
        </p:txBody>
      </p:sp>
      <p:sp>
        <p:nvSpPr>
          <p:cNvPr id="15" name="Text 13"/>
          <p:cNvSpPr/>
          <p:nvPr/>
        </p:nvSpPr>
        <p:spPr>
          <a:xfrm>
            <a:off x="8138160" y="1876179"/>
            <a:ext cx="2651760" cy="457200"/>
          </a:xfrm>
          <a:prstGeom prst="rect">
            <a:avLst/>
          </a:prstGeom>
          <a:noFill/>
          <a:ln/>
        </p:spPr>
        <p:txBody>
          <a:bodyPr wrap="square" lIns="0" tIns="0" rIns="0" bIns="0" rtlCol="0" anchor="ctr"/>
          <a:lstStyle/>
          <a:p>
            <a:pPr marL="0" indent="0">
              <a:buNone/>
            </a:pPr>
            <a:r>
              <a:rPr lang="en-US" sz="4800" b="1" dirty="0">
                <a:solidFill>
                  <a:srgbClr val="F4B942"/>
                </a:solidFill>
              </a:rPr>
              <a:t>&gt;96 %</a:t>
            </a:r>
            <a:endParaRPr lang="en-US" sz="4800" dirty="0"/>
          </a:p>
        </p:txBody>
      </p:sp>
      <p:sp>
        <p:nvSpPr>
          <p:cNvPr id="16" name="Text 14"/>
          <p:cNvSpPr/>
          <p:nvPr/>
        </p:nvSpPr>
        <p:spPr>
          <a:xfrm>
            <a:off x="8138160" y="2376541"/>
            <a:ext cx="2651760" cy="384048"/>
          </a:xfrm>
          <a:prstGeom prst="rect">
            <a:avLst/>
          </a:prstGeom>
          <a:noFill/>
          <a:ln/>
        </p:spPr>
        <p:txBody>
          <a:bodyPr wrap="square" lIns="0" tIns="0" rIns="0" bIns="0" rtlCol="0" anchor="ctr"/>
          <a:lstStyle/>
          <a:p>
            <a:pPr marL="0" indent="0">
              <a:buNone/>
            </a:pPr>
            <a:r>
              <a:rPr lang="en-US" sz="1600" b="1" dirty="0">
                <a:solidFill>
                  <a:srgbClr val="D7E1EE"/>
                </a:solidFill>
              </a:rPr>
              <a:t>reconocimiento correcto</a:t>
            </a:r>
            <a:endParaRPr lang="en-US" sz="1600" dirty="0"/>
          </a:p>
        </p:txBody>
      </p:sp>
      <p:sp>
        <p:nvSpPr>
          <p:cNvPr id="17" name="Text 15"/>
          <p:cNvSpPr/>
          <p:nvPr/>
        </p:nvSpPr>
        <p:spPr>
          <a:xfrm>
            <a:off x="8138160" y="2829713"/>
            <a:ext cx="2651760" cy="292608"/>
          </a:xfrm>
          <a:prstGeom prst="rect">
            <a:avLst/>
          </a:prstGeom>
          <a:noFill/>
          <a:ln/>
        </p:spPr>
        <p:txBody>
          <a:bodyPr wrap="square" lIns="0" tIns="0" rIns="0" bIns="0" rtlCol="0" anchor="ctr"/>
          <a:lstStyle/>
          <a:p>
            <a:pPr marL="0" indent="0">
              <a:buNone/>
            </a:pPr>
            <a:r>
              <a:rPr lang="en-US" sz="1200" dirty="0">
                <a:solidFill>
                  <a:srgbClr val="9BAEC5"/>
                </a:solidFill>
              </a:rPr>
              <a:t>cuando la confianza es alta</a:t>
            </a:r>
            <a:endParaRPr lang="en-US" sz="1200" dirty="0"/>
          </a:p>
        </p:txBody>
      </p:sp>
      <p:sp>
        <p:nvSpPr>
          <p:cNvPr id="18" name="Shape 16"/>
          <p:cNvSpPr/>
          <p:nvPr/>
        </p:nvSpPr>
        <p:spPr>
          <a:xfrm>
            <a:off x="822960" y="3749040"/>
            <a:ext cx="10287000" cy="1691640"/>
          </a:xfrm>
          <a:prstGeom prst="roundRect">
            <a:avLst>
              <a:gd name="adj" fmla="val 3784"/>
            </a:avLst>
          </a:prstGeom>
          <a:solidFill>
            <a:srgbClr val="0D1D33"/>
          </a:solidFill>
          <a:ln w="12700">
            <a:solidFill>
              <a:srgbClr val="223A57"/>
            </a:solidFill>
            <a:prstDash val="solid"/>
          </a:ln>
        </p:spPr>
        <p:txBody>
          <a:bodyPr/>
          <a:lstStyle/>
          <a:p>
            <a:endParaRPr lang="es-EC" sz="4000"/>
          </a:p>
        </p:txBody>
      </p:sp>
      <p:sp>
        <p:nvSpPr>
          <p:cNvPr id="20" name="Shape 18"/>
          <p:cNvSpPr/>
          <p:nvPr/>
        </p:nvSpPr>
        <p:spPr>
          <a:xfrm>
            <a:off x="3474720" y="3977640"/>
            <a:ext cx="1554480" cy="329184"/>
          </a:xfrm>
          <a:prstGeom prst="roundRect">
            <a:avLst>
              <a:gd name="adj" fmla="val 19444"/>
            </a:avLst>
          </a:prstGeom>
          <a:solidFill>
            <a:srgbClr val="F4B942">
              <a:alpha val="18000"/>
            </a:srgbClr>
          </a:solidFill>
          <a:ln w="12700">
            <a:solidFill>
              <a:srgbClr val="F4B942">
                <a:alpha val="80000"/>
              </a:srgbClr>
            </a:solidFill>
            <a:prstDash val="solid"/>
          </a:ln>
        </p:spPr>
        <p:txBody>
          <a:bodyPr/>
          <a:lstStyle/>
          <a:p>
            <a:endParaRPr lang="es-EC" sz="4000"/>
          </a:p>
        </p:txBody>
      </p:sp>
      <p:sp>
        <p:nvSpPr>
          <p:cNvPr id="21" name="Text 19"/>
          <p:cNvSpPr/>
          <p:nvPr/>
        </p:nvSpPr>
        <p:spPr>
          <a:xfrm>
            <a:off x="3538728" y="4050792"/>
            <a:ext cx="1417320" cy="146304"/>
          </a:xfrm>
          <a:prstGeom prst="rect">
            <a:avLst/>
          </a:prstGeom>
          <a:noFill/>
          <a:ln/>
        </p:spPr>
        <p:txBody>
          <a:bodyPr wrap="square" lIns="0" tIns="0" rIns="0" bIns="0" rtlCol="0" anchor="ctr"/>
          <a:lstStyle/>
          <a:p>
            <a:pPr marL="0" indent="0" algn="ctr">
              <a:buNone/>
            </a:pPr>
            <a:r>
              <a:rPr lang="en-US" sz="1400" b="1" dirty="0">
                <a:solidFill>
                  <a:srgbClr val="F4B942"/>
                </a:solidFill>
              </a:rPr>
              <a:t>Placas pequeñas</a:t>
            </a:r>
            <a:endParaRPr lang="en-US" sz="1400" dirty="0"/>
          </a:p>
        </p:txBody>
      </p:sp>
      <p:sp>
        <p:nvSpPr>
          <p:cNvPr id="22" name="Shape 20"/>
          <p:cNvSpPr/>
          <p:nvPr/>
        </p:nvSpPr>
        <p:spPr>
          <a:xfrm>
            <a:off x="5212080" y="3977640"/>
            <a:ext cx="1554480" cy="329184"/>
          </a:xfrm>
          <a:prstGeom prst="roundRect">
            <a:avLst>
              <a:gd name="adj" fmla="val 19444"/>
            </a:avLst>
          </a:prstGeom>
          <a:solidFill>
            <a:srgbClr val="60A5FA">
              <a:alpha val="18000"/>
            </a:srgbClr>
          </a:solidFill>
          <a:ln w="12700">
            <a:solidFill>
              <a:srgbClr val="60A5FA">
                <a:alpha val="80000"/>
              </a:srgbClr>
            </a:solidFill>
            <a:prstDash val="solid"/>
          </a:ln>
        </p:spPr>
        <p:txBody>
          <a:bodyPr/>
          <a:lstStyle/>
          <a:p>
            <a:endParaRPr lang="es-EC" sz="4000"/>
          </a:p>
        </p:txBody>
      </p:sp>
      <p:sp>
        <p:nvSpPr>
          <p:cNvPr id="23" name="Text 21"/>
          <p:cNvSpPr/>
          <p:nvPr/>
        </p:nvSpPr>
        <p:spPr>
          <a:xfrm>
            <a:off x="5285232" y="4050792"/>
            <a:ext cx="1408176" cy="146304"/>
          </a:xfrm>
          <a:prstGeom prst="rect">
            <a:avLst/>
          </a:prstGeom>
          <a:noFill/>
          <a:ln/>
        </p:spPr>
        <p:txBody>
          <a:bodyPr wrap="square" lIns="0" tIns="0" rIns="0" bIns="0" rtlCol="0" anchor="ctr"/>
          <a:lstStyle/>
          <a:p>
            <a:pPr marL="0" indent="0" algn="ctr">
              <a:buNone/>
            </a:pPr>
            <a:r>
              <a:rPr lang="en-US" sz="1400" b="1" dirty="0">
                <a:solidFill>
                  <a:srgbClr val="60A5FA"/>
                </a:solidFill>
              </a:rPr>
              <a:t>Poca iluminación</a:t>
            </a:r>
            <a:endParaRPr lang="en-US" sz="1400" dirty="0"/>
          </a:p>
        </p:txBody>
      </p:sp>
      <p:sp>
        <p:nvSpPr>
          <p:cNvPr id="24" name="Shape 22"/>
          <p:cNvSpPr/>
          <p:nvPr/>
        </p:nvSpPr>
        <p:spPr>
          <a:xfrm>
            <a:off x="6995160" y="3977640"/>
            <a:ext cx="1828800" cy="329184"/>
          </a:xfrm>
          <a:prstGeom prst="roundRect">
            <a:avLst>
              <a:gd name="adj" fmla="val 19444"/>
            </a:avLst>
          </a:prstGeom>
          <a:solidFill>
            <a:srgbClr val="F27D7D">
              <a:alpha val="18000"/>
            </a:srgbClr>
          </a:solidFill>
          <a:ln w="12700">
            <a:solidFill>
              <a:srgbClr val="F27D7D">
                <a:alpha val="80000"/>
              </a:srgbClr>
            </a:solidFill>
            <a:prstDash val="solid"/>
          </a:ln>
        </p:spPr>
        <p:txBody>
          <a:bodyPr/>
          <a:lstStyle/>
          <a:p>
            <a:endParaRPr lang="es-EC" sz="4000"/>
          </a:p>
        </p:txBody>
      </p:sp>
      <p:sp>
        <p:nvSpPr>
          <p:cNvPr id="25" name="Text 23"/>
          <p:cNvSpPr/>
          <p:nvPr/>
        </p:nvSpPr>
        <p:spPr>
          <a:xfrm>
            <a:off x="7068312" y="4050792"/>
            <a:ext cx="1645920" cy="91362"/>
          </a:xfrm>
          <a:prstGeom prst="rect">
            <a:avLst/>
          </a:prstGeom>
          <a:noFill/>
          <a:ln/>
        </p:spPr>
        <p:txBody>
          <a:bodyPr wrap="square" lIns="0" tIns="0" rIns="0" bIns="0" rtlCol="0" anchor="ctr"/>
          <a:lstStyle/>
          <a:p>
            <a:pPr marL="0" indent="0" algn="ctr">
              <a:buNone/>
            </a:pPr>
            <a:r>
              <a:rPr lang="en-US" sz="1400" b="1" dirty="0">
                <a:solidFill>
                  <a:srgbClr val="F27D7D"/>
                </a:solidFill>
              </a:rPr>
              <a:t>Placas deterioradas</a:t>
            </a:r>
            <a:endParaRPr lang="en-US" sz="1400" dirty="0"/>
          </a:p>
        </p:txBody>
      </p:sp>
      <p:sp>
        <p:nvSpPr>
          <p:cNvPr id="28" name="Slide Number Placeholder 0"/>
          <p:cNvSpPr>
            <a:spLocks noGrp="1"/>
          </p:cNvSpPr>
          <p:nvPr>
            <p:ph type="sldNum" sz="quarter" idx="4294967295"/>
          </p:nvPr>
        </p:nvSpPr>
        <p:spPr>
          <a:xfrm>
            <a:off x="11384280" y="6428232"/>
            <a:ext cx="457200" cy="182880"/>
          </a:xfrm>
          <a:prstGeom prst="rect">
            <a:avLst/>
          </a:prstGeom>
          <a:extLst>
            <a:ext uri="{C572A759-6A51-4108-AA02-DFA0A04FC94B}">
              <ma14:wrappingTextBoxFlag xmlns="" xmlns:ma14="http://schemas.microsoft.com/office/mac/drawingml/2011/main" val="0"/>
            </a:ext>
          </a:extLst>
        </p:spPr>
        <p:txBody>
          <a:bodyPr/>
          <a:lstStyle>
            <a:lvl1pPr>
              <a:defRPr sz="700">
                <a:solidFill>
                  <a:srgbClr val="58708F"/>
                </a:solidFill>
                <a:latin typeface="Aptos"/>
                <a:ea typeface="Aptos"/>
                <a:cs typeface="Aptos"/>
              </a:defRPr>
            </a:lvl1pPr>
          </a:lstStyle>
          <a:p>
            <a:pPr algn="r"/>
            <a:fld id="{F7021451-1387-4CA6-816F-3879F97B5CBC}" type="slidenum">
              <a:rPr lang="en-US" sz="1200" b="0"/>
              <a:t>6</a:t>
            </a:fld>
            <a:endParaRPr lang="en-US" sz="12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9" name="Picture 28" descr="73ea2217-3aa7-5ba4-8da8-6a1c1835f362.jpg"/>
          <p:cNvPicPr>
            <a:picLocks noChangeAspect="1"/>
          </p:cNvPicPr>
          <p:nvPr/>
        </p:nvPicPr>
        <p:blipFill>
          <a:blip r:embed="rId3"/>
          <a:stretch>
            <a:fillRect/>
          </a:stretch>
        </p:blipFill>
        <p:spPr>
          <a:xfrm>
            <a:off x="0" y="0"/>
            <a:ext cx="12192000" cy="6858000"/>
          </a:xfrm>
          <a:prstGeom prst="rect">
            <a:avLst/>
          </a:prstGeom>
        </p:spPr>
      </p:pic>
      <p:sp>
        <p:nvSpPr>
          <p:cNvPr id="2" name="Text 0"/>
          <p:cNvSpPr/>
          <p:nvPr/>
        </p:nvSpPr>
        <p:spPr>
          <a:xfrm>
            <a:off x="777240" y="320040"/>
            <a:ext cx="7132320" cy="201168"/>
          </a:xfrm>
          <a:prstGeom prst="rect">
            <a:avLst/>
          </a:prstGeom>
          <a:noFill/>
          <a:ln/>
        </p:spPr>
        <p:txBody>
          <a:bodyPr wrap="square" lIns="0" tIns="0" rIns="0" bIns="0" rtlCol="0" anchor="ctr"/>
          <a:lstStyle/>
          <a:p>
            <a:pPr marL="0" indent="0">
              <a:buNone/>
            </a:pPr>
            <a:r>
              <a:rPr lang="en-US" sz="1050" b="1" kern="0" spc="80" dirty="0">
                <a:solidFill>
                  <a:srgbClr val="9BAEC5"/>
                </a:solidFill>
                <a:latin typeface="Aptos" pitchFamily="34" charset="0"/>
                <a:ea typeface="Aptos" pitchFamily="34" charset="-122"/>
                <a:cs typeface="Aptos" pitchFamily="34" charset="-120"/>
              </a:rPr>
              <a:t>SEGURIDAD, PRIVACIDAD Y LIMITACIONES</a:t>
            </a:r>
            <a:endParaRPr lang="en-US" sz="1050" dirty="0"/>
          </a:p>
        </p:txBody>
      </p:sp>
      <p:sp>
        <p:nvSpPr>
          <p:cNvPr id="3" name="Text 1"/>
          <p:cNvSpPr/>
          <p:nvPr/>
        </p:nvSpPr>
        <p:spPr>
          <a:xfrm>
            <a:off x="777240" y="603504"/>
            <a:ext cx="8046720" cy="420624"/>
          </a:xfrm>
          <a:prstGeom prst="rect">
            <a:avLst/>
          </a:prstGeom>
          <a:noFill/>
          <a:ln/>
        </p:spPr>
        <p:txBody>
          <a:bodyPr wrap="square" lIns="0" tIns="0" rIns="0" bIns="0" rtlCol="0" anchor="ctr"/>
          <a:lstStyle/>
          <a:p>
            <a:pPr marL="0" indent="0">
              <a:buNone/>
            </a:pPr>
            <a:r>
              <a:rPr lang="en-US" sz="2400" b="1" dirty="0">
                <a:solidFill>
                  <a:srgbClr val="F8FAFC"/>
                </a:solidFill>
                <a:latin typeface="Aptos Display" pitchFamily="34" charset="0"/>
                <a:ea typeface="Aptos Display" pitchFamily="34" charset="-122"/>
                <a:cs typeface="Aptos Display" pitchFamily="34" charset="-120"/>
              </a:rPr>
              <a:t>Uso responsable</a:t>
            </a:r>
            <a:endParaRPr lang="en-US" sz="2400" dirty="0"/>
          </a:p>
        </p:txBody>
      </p:sp>
      <p:sp>
        <p:nvSpPr>
          <p:cNvPr id="4" name="Text 2"/>
          <p:cNvSpPr/>
          <p:nvPr/>
        </p:nvSpPr>
        <p:spPr>
          <a:xfrm>
            <a:off x="10817352" y="393192"/>
            <a:ext cx="640080" cy="201168"/>
          </a:xfrm>
          <a:prstGeom prst="rect">
            <a:avLst/>
          </a:prstGeom>
          <a:noFill/>
          <a:ln/>
        </p:spPr>
        <p:txBody>
          <a:bodyPr wrap="square" lIns="0" tIns="0" rIns="0" bIns="0" rtlCol="0" anchor="ctr"/>
          <a:lstStyle/>
          <a:p>
            <a:pPr marL="0" indent="0" algn="r">
              <a:buNone/>
            </a:pPr>
            <a:r>
              <a:rPr lang="en-US" sz="1050" b="1" dirty="0">
                <a:solidFill>
                  <a:srgbClr val="F4B942"/>
                </a:solidFill>
                <a:latin typeface="Aptos" pitchFamily="34" charset="0"/>
                <a:ea typeface="Aptos" pitchFamily="34" charset="-122"/>
                <a:cs typeface="Aptos" pitchFamily="34" charset="-120"/>
              </a:rPr>
              <a:t>00:45</a:t>
            </a:r>
            <a:endParaRPr lang="en-US" sz="1050" dirty="0"/>
          </a:p>
        </p:txBody>
      </p:sp>
      <p:sp>
        <p:nvSpPr>
          <p:cNvPr id="5" name="Text 3"/>
          <p:cNvSpPr/>
          <p:nvPr/>
        </p:nvSpPr>
        <p:spPr>
          <a:xfrm>
            <a:off x="10607040" y="768096"/>
            <a:ext cx="841248" cy="182880"/>
          </a:xfrm>
          <a:prstGeom prst="rect">
            <a:avLst/>
          </a:prstGeom>
          <a:noFill/>
          <a:ln/>
        </p:spPr>
        <p:txBody>
          <a:bodyPr wrap="square" lIns="0" tIns="0" rIns="0" bIns="0" rtlCol="0" anchor="ctr"/>
          <a:lstStyle/>
          <a:p>
            <a:pPr marL="0" indent="0" algn="r">
              <a:buNone/>
            </a:pPr>
            <a:r>
              <a:rPr lang="en-US" sz="1000" dirty="0">
                <a:solidFill>
                  <a:srgbClr val="607792"/>
                </a:solidFill>
                <a:latin typeface="Aptos" pitchFamily="34" charset="0"/>
                <a:ea typeface="Aptos" pitchFamily="34" charset="-122"/>
                <a:cs typeface="Aptos" pitchFamily="34" charset="-120"/>
              </a:rPr>
              <a:t>07 / 08</a:t>
            </a:r>
            <a:endParaRPr lang="en-US" sz="1000" dirty="0"/>
          </a:p>
        </p:txBody>
      </p:sp>
      <p:sp>
        <p:nvSpPr>
          <p:cNvPr id="6" name="Shape 4"/>
          <p:cNvSpPr/>
          <p:nvPr/>
        </p:nvSpPr>
        <p:spPr>
          <a:xfrm>
            <a:off x="822960" y="1417320"/>
            <a:ext cx="4251960" cy="4480560"/>
          </a:xfrm>
          <a:prstGeom prst="roundRect">
            <a:avLst>
              <a:gd name="adj" fmla="val 1505"/>
            </a:avLst>
          </a:prstGeom>
          <a:solidFill>
            <a:srgbClr val="0D1D33"/>
          </a:solidFill>
          <a:ln w="12700">
            <a:solidFill>
              <a:srgbClr val="223A57"/>
            </a:solidFill>
            <a:prstDash val="solid"/>
          </a:ln>
          <a:effectLst>
            <a:outerShdw blurRad="15240" dist="6350" dir="2700000" algn="bl" rotWithShape="0">
              <a:srgbClr val="000000">
                <a:alpha val="18000"/>
              </a:srgbClr>
            </a:outerShdw>
          </a:effectLst>
        </p:spPr>
        <p:txBody>
          <a:bodyPr/>
          <a:lstStyle/>
          <a:p>
            <a:endParaRPr lang="es-EC" sz="2800"/>
          </a:p>
        </p:txBody>
      </p:sp>
      <p:sp>
        <p:nvSpPr>
          <p:cNvPr id="7" name="Text 5"/>
          <p:cNvSpPr/>
          <p:nvPr/>
        </p:nvSpPr>
        <p:spPr>
          <a:xfrm>
            <a:off x="1097280" y="1719072"/>
            <a:ext cx="1920240" cy="219456"/>
          </a:xfrm>
          <a:prstGeom prst="rect">
            <a:avLst/>
          </a:prstGeom>
          <a:noFill/>
          <a:ln/>
        </p:spPr>
        <p:txBody>
          <a:bodyPr wrap="square" lIns="0" tIns="0" rIns="0" bIns="0" rtlCol="0" anchor="ctr"/>
          <a:lstStyle/>
          <a:p>
            <a:pPr marL="0" indent="0">
              <a:buNone/>
            </a:pPr>
            <a:r>
              <a:rPr lang="en-US" sz="1100" b="1" dirty="0">
                <a:solidFill>
                  <a:srgbClr val="9BAEC5"/>
                </a:solidFill>
              </a:rPr>
              <a:t>PRINCIPAL LIMITACIÓN</a:t>
            </a:r>
            <a:endParaRPr lang="en-US" sz="1100" dirty="0"/>
          </a:p>
        </p:txBody>
      </p:sp>
      <p:sp>
        <p:nvSpPr>
          <p:cNvPr id="8" name="Text 6"/>
          <p:cNvSpPr/>
          <p:nvPr/>
        </p:nvSpPr>
        <p:spPr>
          <a:xfrm>
            <a:off x="1097280" y="2340864"/>
            <a:ext cx="3912382" cy="932688"/>
          </a:xfrm>
          <a:prstGeom prst="rect">
            <a:avLst/>
          </a:prstGeom>
          <a:noFill/>
          <a:ln/>
        </p:spPr>
        <p:txBody>
          <a:bodyPr wrap="square" lIns="0" tIns="0" rIns="0" bIns="0" rtlCol="0" anchor="ctr"/>
          <a:lstStyle/>
          <a:p>
            <a:pPr marL="0" indent="0">
              <a:buNone/>
            </a:pPr>
            <a:r>
              <a:rPr lang="en-US" sz="2800" b="1" dirty="0">
                <a:solidFill>
                  <a:srgbClr val="F8FAFC"/>
                </a:solidFill>
              </a:rPr>
              <a:t>Las placas pequeñas y las malas condiciones de captura son más difíciles.</a:t>
            </a:r>
            <a:endParaRPr lang="en-US" sz="2800" dirty="0"/>
          </a:p>
        </p:txBody>
      </p:sp>
      <p:sp>
        <p:nvSpPr>
          <p:cNvPr id="9" name="Text 7"/>
          <p:cNvSpPr/>
          <p:nvPr/>
        </p:nvSpPr>
        <p:spPr>
          <a:xfrm>
            <a:off x="1097280" y="3643884"/>
            <a:ext cx="3337560" cy="987552"/>
          </a:xfrm>
          <a:prstGeom prst="rect">
            <a:avLst/>
          </a:prstGeom>
          <a:noFill/>
          <a:ln/>
        </p:spPr>
        <p:txBody>
          <a:bodyPr wrap="square" lIns="0" tIns="0" rIns="0" bIns="0" rtlCol="0" anchor="ctr"/>
          <a:lstStyle/>
          <a:p>
            <a:pPr marL="0" indent="0">
              <a:buNone/>
            </a:pPr>
            <a:r>
              <a:rPr lang="en-US" sz="1200" dirty="0">
                <a:solidFill>
                  <a:srgbClr val="D7E1EE"/>
                </a:solidFill>
              </a:rPr>
              <a:t>El OCR se evaluó principalmente con placas de Guayaquil, por lo que todavía debemos ampliar las pruebas a otras ciudades y escenarios nocturnos.</a:t>
            </a:r>
            <a:endParaRPr lang="en-US" sz="1200" dirty="0"/>
          </a:p>
        </p:txBody>
      </p:sp>
      <p:sp>
        <p:nvSpPr>
          <p:cNvPr id="10" name="Shape 8"/>
          <p:cNvSpPr/>
          <p:nvPr/>
        </p:nvSpPr>
        <p:spPr>
          <a:xfrm>
            <a:off x="1097280" y="4828032"/>
            <a:ext cx="2514600" cy="329184"/>
          </a:xfrm>
          <a:prstGeom prst="roundRect">
            <a:avLst>
              <a:gd name="adj" fmla="val 19444"/>
            </a:avLst>
          </a:prstGeom>
          <a:solidFill>
            <a:srgbClr val="F4B942">
              <a:alpha val="18000"/>
            </a:srgbClr>
          </a:solidFill>
          <a:ln w="12700">
            <a:solidFill>
              <a:srgbClr val="F4B942">
                <a:alpha val="80000"/>
              </a:srgbClr>
            </a:solidFill>
            <a:prstDash val="solid"/>
          </a:ln>
        </p:spPr>
        <p:txBody>
          <a:bodyPr/>
          <a:lstStyle/>
          <a:p>
            <a:endParaRPr lang="es-EC" sz="2800"/>
          </a:p>
        </p:txBody>
      </p:sp>
      <p:sp>
        <p:nvSpPr>
          <p:cNvPr id="11" name="Text 9"/>
          <p:cNvSpPr/>
          <p:nvPr/>
        </p:nvSpPr>
        <p:spPr>
          <a:xfrm>
            <a:off x="1170432" y="4901184"/>
            <a:ext cx="2368296" cy="146304"/>
          </a:xfrm>
          <a:prstGeom prst="rect">
            <a:avLst/>
          </a:prstGeom>
          <a:noFill/>
          <a:ln/>
        </p:spPr>
        <p:txBody>
          <a:bodyPr wrap="square" lIns="0" tIns="0" rIns="0" bIns="0" rtlCol="0" anchor="ctr"/>
          <a:lstStyle/>
          <a:p>
            <a:pPr marL="0" indent="0" algn="ctr">
              <a:buNone/>
            </a:pPr>
            <a:r>
              <a:rPr lang="en-US" sz="1050" b="1" dirty="0">
                <a:solidFill>
                  <a:srgbClr val="F4B942"/>
                </a:solidFill>
              </a:rPr>
              <a:t>No es un sistema 100 % autónomo</a:t>
            </a:r>
            <a:endParaRPr lang="en-US" sz="1050" dirty="0"/>
          </a:p>
        </p:txBody>
      </p:sp>
      <p:sp>
        <p:nvSpPr>
          <p:cNvPr id="12" name="Text 10"/>
          <p:cNvSpPr/>
          <p:nvPr/>
        </p:nvSpPr>
        <p:spPr>
          <a:xfrm>
            <a:off x="5486400" y="1719072"/>
            <a:ext cx="2011680" cy="219456"/>
          </a:xfrm>
          <a:prstGeom prst="rect">
            <a:avLst/>
          </a:prstGeom>
          <a:noFill/>
          <a:ln/>
        </p:spPr>
        <p:txBody>
          <a:bodyPr wrap="square" lIns="0" tIns="0" rIns="0" bIns="0" rtlCol="0" anchor="ctr"/>
          <a:lstStyle/>
          <a:p>
            <a:pPr marL="0" indent="0">
              <a:buNone/>
            </a:pPr>
            <a:r>
              <a:rPr lang="en-US" sz="1100" b="1" dirty="0">
                <a:solidFill>
                  <a:srgbClr val="9BAEC5"/>
                </a:solidFill>
              </a:rPr>
              <a:t>MEDIDAS DE CONTROL</a:t>
            </a:r>
            <a:endParaRPr lang="en-US" sz="1100" dirty="0"/>
          </a:p>
        </p:txBody>
      </p:sp>
      <p:sp>
        <p:nvSpPr>
          <p:cNvPr id="13" name="Shape 11"/>
          <p:cNvSpPr/>
          <p:nvPr/>
        </p:nvSpPr>
        <p:spPr>
          <a:xfrm>
            <a:off x="5486400" y="2157984"/>
            <a:ext cx="256032" cy="256032"/>
          </a:xfrm>
          <a:prstGeom prst="ellipse">
            <a:avLst/>
          </a:prstGeom>
          <a:solidFill>
            <a:srgbClr val="2DD4BF"/>
          </a:solidFill>
          <a:ln w="12700">
            <a:solidFill>
              <a:srgbClr val="2DD4BF"/>
            </a:solidFill>
            <a:prstDash val="solid"/>
          </a:ln>
        </p:spPr>
        <p:txBody>
          <a:bodyPr/>
          <a:lstStyle/>
          <a:p>
            <a:endParaRPr lang="es-EC" sz="2800"/>
          </a:p>
        </p:txBody>
      </p:sp>
      <p:sp>
        <p:nvSpPr>
          <p:cNvPr id="14" name="Text 12"/>
          <p:cNvSpPr/>
          <p:nvPr/>
        </p:nvSpPr>
        <p:spPr>
          <a:xfrm>
            <a:off x="5486400" y="2217420"/>
            <a:ext cx="256032" cy="109728"/>
          </a:xfrm>
          <a:prstGeom prst="rect">
            <a:avLst/>
          </a:prstGeom>
          <a:noFill/>
          <a:ln/>
        </p:spPr>
        <p:txBody>
          <a:bodyPr wrap="square" lIns="0" tIns="0" rIns="0" bIns="0" rtlCol="0" anchor="ctr"/>
          <a:lstStyle/>
          <a:p>
            <a:pPr marL="0" indent="0" algn="ctr">
              <a:buNone/>
            </a:pPr>
            <a:r>
              <a:rPr lang="en-US" sz="1000" b="1" dirty="0">
                <a:solidFill>
                  <a:srgbClr val="06111F"/>
                </a:solidFill>
              </a:rPr>
              <a:t>1</a:t>
            </a:r>
            <a:endParaRPr lang="en-US" sz="1000" dirty="0"/>
          </a:p>
        </p:txBody>
      </p:sp>
      <p:sp>
        <p:nvSpPr>
          <p:cNvPr id="15" name="Text 13"/>
          <p:cNvSpPr/>
          <p:nvPr/>
        </p:nvSpPr>
        <p:spPr>
          <a:xfrm>
            <a:off x="5897880" y="2139696"/>
            <a:ext cx="2011680" cy="228600"/>
          </a:xfrm>
          <a:prstGeom prst="rect">
            <a:avLst/>
          </a:prstGeom>
          <a:noFill/>
          <a:ln/>
        </p:spPr>
        <p:txBody>
          <a:bodyPr wrap="square" lIns="0" tIns="0" rIns="0" bIns="0" rtlCol="0" anchor="ctr"/>
          <a:lstStyle/>
          <a:p>
            <a:pPr marL="0" indent="0">
              <a:buNone/>
            </a:pPr>
            <a:r>
              <a:rPr lang="en-US" sz="1200" b="1" dirty="0">
                <a:solidFill>
                  <a:srgbClr val="F8FAFC"/>
                </a:solidFill>
              </a:rPr>
              <a:t>Humano al mando</a:t>
            </a:r>
            <a:endParaRPr lang="en-US" sz="1200" dirty="0"/>
          </a:p>
        </p:txBody>
      </p:sp>
      <p:sp>
        <p:nvSpPr>
          <p:cNvPr id="16" name="Text 14"/>
          <p:cNvSpPr/>
          <p:nvPr/>
        </p:nvSpPr>
        <p:spPr>
          <a:xfrm>
            <a:off x="5897880" y="2432304"/>
            <a:ext cx="4663440" cy="320040"/>
          </a:xfrm>
          <a:prstGeom prst="rect">
            <a:avLst/>
          </a:prstGeom>
          <a:noFill/>
          <a:ln/>
        </p:spPr>
        <p:txBody>
          <a:bodyPr wrap="square" lIns="0" tIns="0" rIns="0" bIns="0" rtlCol="0" anchor="ctr"/>
          <a:lstStyle/>
          <a:p>
            <a:pPr marL="0" indent="0">
              <a:buNone/>
            </a:pPr>
            <a:r>
              <a:rPr lang="en-US" sz="1050" dirty="0">
                <a:solidFill>
                  <a:srgbClr val="D7E1EE"/>
                </a:solidFill>
              </a:rPr>
              <a:t>Lectura dudosa → revisión y corrección manual.</a:t>
            </a:r>
            <a:endParaRPr lang="en-US" sz="1050" dirty="0"/>
          </a:p>
        </p:txBody>
      </p:sp>
      <p:sp>
        <p:nvSpPr>
          <p:cNvPr id="17" name="Shape 15"/>
          <p:cNvSpPr/>
          <p:nvPr/>
        </p:nvSpPr>
        <p:spPr>
          <a:xfrm>
            <a:off x="5486400" y="2999232"/>
            <a:ext cx="256032" cy="256032"/>
          </a:xfrm>
          <a:prstGeom prst="ellipse">
            <a:avLst/>
          </a:prstGeom>
          <a:solidFill>
            <a:srgbClr val="F4B942"/>
          </a:solidFill>
          <a:ln w="12700">
            <a:solidFill>
              <a:srgbClr val="F4B942"/>
            </a:solidFill>
            <a:prstDash val="solid"/>
          </a:ln>
        </p:spPr>
        <p:txBody>
          <a:bodyPr/>
          <a:lstStyle/>
          <a:p>
            <a:endParaRPr lang="es-EC" sz="2800"/>
          </a:p>
        </p:txBody>
      </p:sp>
      <p:sp>
        <p:nvSpPr>
          <p:cNvPr id="18" name="Text 16"/>
          <p:cNvSpPr/>
          <p:nvPr/>
        </p:nvSpPr>
        <p:spPr>
          <a:xfrm>
            <a:off x="5486400" y="3058668"/>
            <a:ext cx="256032" cy="109728"/>
          </a:xfrm>
          <a:prstGeom prst="rect">
            <a:avLst/>
          </a:prstGeom>
          <a:noFill/>
          <a:ln/>
        </p:spPr>
        <p:txBody>
          <a:bodyPr wrap="square" lIns="0" tIns="0" rIns="0" bIns="0" rtlCol="0" anchor="ctr"/>
          <a:lstStyle/>
          <a:p>
            <a:pPr marL="0" indent="0" algn="ctr">
              <a:buNone/>
            </a:pPr>
            <a:r>
              <a:rPr lang="en-US" sz="1000" b="1" dirty="0">
                <a:solidFill>
                  <a:srgbClr val="06111F"/>
                </a:solidFill>
              </a:rPr>
              <a:t>2</a:t>
            </a:r>
            <a:endParaRPr lang="en-US" sz="1000" dirty="0"/>
          </a:p>
        </p:txBody>
      </p:sp>
      <p:sp>
        <p:nvSpPr>
          <p:cNvPr id="19" name="Text 17"/>
          <p:cNvSpPr/>
          <p:nvPr/>
        </p:nvSpPr>
        <p:spPr>
          <a:xfrm>
            <a:off x="5897880" y="2980944"/>
            <a:ext cx="2011680" cy="228600"/>
          </a:xfrm>
          <a:prstGeom prst="rect">
            <a:avLst/>
          </a:prstGeom>
          <a:noFill/>
          <a:ln/>
        </p:spPr>
        <p:txBody>
          <a:bodyPr wrap="square" lIns="0" tIns="0" rIns="0" bIns="0" rtlCol="0" anchor="ctr"/>
          <a:lstStyle/>
          <a:p>
            <a:pPr marL="0" indent="0">
              <a:buNone/>
            </a:pPr>
            <a:r>
              <a:rPr lang="en-US" sz="1200" b="1" dirty="0">
                <a:solidFill>
                  <a:srgbClr val="F8FAFC"/>
                </a:solidFill>
              </a:rPr>
              <a:t>Sin apertura autónoma</a:t>
            </a:r>
            <a:endParaRPr lang="en-US" sz="1200" dirty="0"/>
          </a:p>
        </p:txBody>
      </p:sp>
      <p:sp>
        <p:nvSpPr>
          <p:cNvPr id="20" name="Text 18"/>
          <p:cNvSpPr/>
          <p:nvPr/>
        </p:nvSpPr>
        <p:spPr>
          <a:xfrm>
            <a:off x="5897880" y="3273552"/>
            <a:ext cx="4663440" cy="320040"/>
          </a:xfrm>
          <a:prstGeom prst="rect">
            <a:avLst/>
          </a:prstGeom>
          <a:noFill/>
          <a:ln/>
        </p:spPr>
        <p:txBody>
          <a:bodyPr wrap="square" lIns="0" tIns="0" rIns="0" bIns="0" rtlCol="0" anchor="ctr"/>
          <a:lstStyle/>
          <a:p>
            <a:pPr marL="0" indent="0">
              <a:buNone/>
            </a:pPr>
            <a:r>
              <a:rPr lang="en-US" sz="1050" dirty="0">
                <a:solidFill>
                  <a:srgbClr val="D7E1EE"/>
                </a:solidFill>
              </a:rPr>
              <a:t>La API vuelve a validar antes de registrar.</a:t>
            </a:r>
            <a:endParaRPr lang="en-US" sz="1050" dirty="0"/>
          </a:p>
        </p:txBody>
      </p:sp>
      <p:sp>
        <p:nvSpPr>
          <p:cNvPr id="21" name="Shape 19"/>
          <p:cNvSpPr/>
          <p:nvPr/>
        </p:nvSpPr>
        <p:spPr>
          <a:xfrm>
            <a:off x="5486400" y="3840480"/>
            <a:ext cx="256032" cy="256032"/>
          </a:xfrm>
          <a:prstGeom prst="ellipse">
            <a:avLst/>
          </a:prstGeom>
          <a:solidFill>
            <a:srgbClr val="60A5FA"/>
          </a:solidFill>
          <a:ln w="12700">
            <a:solidFill>
              <a:srgbClr val="60A5FA"/>
            </a:solidFill>
            <a:prstDash val="solid"/>
          </a:ln>
        </p:spPr>
        <p:txBody>
          <a:bodyPr/>
          <a:lstStyle/>
          <a:p>
            <a:endParaRPr lang="es-EC" sz="2800"/>
          </a:p>
        </p:txBody>
      </p:sp>
      <p:sp>
        <p:nvSpPr>
          <p:cNvPr id="22" name="Text 20"/>
          <p:cNvSpPr/>
          <p:nvPr/>
        </p:nvSpPr>
        <p:spPr>
          <a:xfrm>
            <a:off x="5486400" y="3899916"/>
            <a:ext cx="256032" cy="109728"/>
          </a:xfrm>
          <a:prstGeom prst="rect">
            <a:avLst/>
          </a:prstGeom>
          <a:noFill/>
          <a:ln/>
        </p:spPr>
        <p:txBody>
          <a:bodyPr wrap="square" lIns="0" tIns="0" rIns="0" bIns="0" rtlCol="0" anchor="ctr"/>
          <a:lstStyle/>
          <a:p>
            <a:pPr marL="0" indent="0" algn="ctr">
              <a:buNone/>
            </a:pPr>
            <a:r>
              <a:rPr lang="en-US" sz="1000" b="1" dirty="0">
                <a:solidFill>
                  <a:srgbClr val="06111F"/>
                </a:solidFill>
              </a:rPr>
              <a:t>3</a:t>
            </a:r>
            <a:endParaRPr lang="en-US" sz="1000" dirty="0"/>
          </a:p>
        </p:txBody>
      </p:sp>
      <p:sp>
        <p:nvSpPr>
          <p:cNvPr id="23" name="Text 21"/>
          <p:cNvSpPr/>
          <p:nvPr/>
        </p:nvSpPr>
        <p:spPr>
          <a:xfrm>
            <a:off x="5897880" y="3822192"/>
            <a:ext cx="2011680" cy="228600"/>
          </a:xfrm>
          <a:prstGeom prst="rect">
            <a:avLst/>
          </a:prstGeom>
          <a:noFill/>
          <a:ln/>
        </p:spPr>
        <p:txBody>
          <a:bodyPr wrap="square" lIns="0" tIns="0" rIns="0" bIns="0" rtlCol="0" anchor="ctr"/>
          <a:lstStyle/>
          <a:p>
            <a:pPr marL="0" indent="0">
              <a:buNone/>
            </a:pPr>
            <a:r>
              <a:rPr lang="en-US" sz="1200" b="1" dirty="0">
                <a:solidFill>
                  <a:srgbClr val="F8FAFC"/>
                </a:solidFill>
              </a:rPr>
              <a:t>Privacidad por diseño</a:t>
            </a:r>
            <a:endParaRPr lang="en-US" sz="1200" dirty="0"/>
          </a:p>
        </p:txBody>
      </p:sp>
      <p:sp>
        <p:nvSpPr>
          <p:cNvPr id="24" name="Text 22"/>
          <p:cNvSpPr/>
          <p:nvPr/>
        </p:nvSpPr>
        <p:spPr>
          <a:xfrm>
            <a:off x="5897880" y="4114800"/>
            <a:ext cx="4663440" cy="320040"/>
          </a:xfrm>
          <a:prstGeom prst="rect">
            <a:avLst/>
          </a:prstGeom>
          <a:noFill/>
          <a:ln/>
        </p:spPr>
        <p:txBody>
          <a:bodyPr wrap="square" lIns="0" tIns="0" rIns="0" bIns="0" rtlCol="0" anchor="ctr"/>
          <a:lstStyle/>
          <a:p>
            <a:pPr marL="0" indent="0">
              <a:buNone/>
            </a:pPr>
            <a:r>
              <a:rPr lang="en-US" sz="1050" dirty="0">
                <a:solidFill>
                  <a:srgbClr val="D7E1EE"/>
                </a:solidFill>
              </a:rPr>
              <a:t>La imagen se procesa y luego se descarta.</a:t>
            </a:r>
            <a:endParaRPr lang="en-US" sz="1050" dirty="0"/>
          </a:p>
        </p:txBody>
      </p:sp>
      <p:sp>
        <p:nvSpPr>
          <p:cNvPr id="25" name="Shape 23"/>
          <p:cNvSpPr/>
          <p:nvPr/>
        </p:nvSpPr>
        <p:spPr>
          <a:xfrm>
            <a:off x="5486400" y="4681728"/>
            <a:ext cx="256032" cy="256032"/>
          </a:xfrm>
          <a:prstGeom prst="ellipse">
            <a:avLst/>
          </a:prstGeom>
          <a:solidFill>
            <a:srgbClr val="66D9A7"/>
          </a:solidFill>
          <a:ln w="12700">
            <a:solidFill>
              <a:srgbClr val="66D9A7"/>
            </a:solidFill>
            <a:prstDash val="solid"/>
          </a:ln>
        </p:spPr>
        <p:txBody>
          <a:bodyPr/>
          <a:lstStyle/>
          <a:p>
            <a:endParaRPr lang="es-EC" sz="2800"/>
          </a:p>
        </p:txBody>
      </p:sp>
      <p:sp>
        <p:nvSpPr>
          <p:cNvPr id="26" name="Text 24"/>
          <p:cNvSpPr/>
          <p:nvPr/>
        </p:nvSpPr>
        <p:spPr>
          <a:xfrm>
            <a:off x="5486400" y="4741164"/>
            <a:ext cx="256032" cy="109728"/>
          </a:xfrm>
          <a:prstGeom prst="rect">
            <a:avLst/>
          </a:prstGeom>
          <a:noFill/>
          <a:ln/>
        </p:spPr>
        <p:txBody>
          <a:bodyPr wrap="square" lIns="0" tIns="0" rIns="0" bIns="0" rtlCol="0" anchor="ctr"/>
          <a:lstStyle/>
          <a:p>
            <a:pPr marL="0" indent="0" algn="ctr">
              <a:buNone/>
            </a:pPr>
            <a:r>
              <a:rPr lang="en-US" sz="1000" b="1" dirty="0">
                <a:solidFill>
                  <a:srgbClr val="06111F"/>
                </a:solidFill>
              </a:rPr>
              <a:t>4</a:t>
            </a:r>
            <a:endParaRPr lang="en-US" sz="1000" dirty="0"/>
          </a:p>
        </p:txBody>
      </p:sp>
      <p:sp>
        <p:nvSpPr>
          <p:cNvPr id="27" name="Text 25"/>
          <p:cNvSpPr/>
          <p:nvPr/>
        </p:nvSpPr>
        <p:spPr>
          <a:xfrm>
            <a:off x="5897880" y="4663440"/>
            <a:ext cx="2011680" cy="228600"/>
          </a:xfrm>
          <a:prstGeom prst="rect">
            <a:avLst/>
          </a:prstGeom>
          <a:noFill/>
          <a:ln/>
        </p:spPr>
        <p:txBody>
          <a:bodyPr wrap="square" lIns="0" tIns="0" rIns="0" bIns="0" rtlCol="0" anchor="ctr"/>
          <a:lstStyle/>
          <a:p>
            <a:pPr marL="0" indent="0">
              <a:buNone/>
            </a:pPr>
            <a:r>
              <a:rPr lang="en-US" sz="1200" b="1" dirty="0">
                <a:solidFill>
                  <a:srgbClr val="F8FAFC"/>
                </a:solidFill>
              </a:rPr>
              <a:t>Demo segura</a:t>
            </a:r>
            <a:endParaRPr lang="en-US" sz="1200" dirty="0"/>
          </a:p>
        </p:txBody>
      </p:sp>
      <p:sp>
        <p:nvSpPr>
          <p:cNvPr id="28" name="Text 26"/>
          <p:cNvSpPr/>
          <p:nvPr/>
        </p:nvSpPr>
        <p:spPr>
          <a:xfrm>
            <a:off x="5897880" y="4956048"/>
            <a:ext cx="4663440" cy="320040"/>
          </a:xfrm>
          <a:prstGeom prst="rect">
            <a:avLst/>
          </a:prstGeom>
          <a:noFill/>
          <a:ln/>
        </p:spPr>
        <p:txBody>
          <a:bodyPr wrap="square" lIns="0" tIns="0" rIns="0" bIns="0" rtlCol="0" anchor="ctr"/>
          <a:lstStyle/>
          <a:p>
            <a:pPr marL="0" indent="0">
              <a:buNone/>
            </a:pPr>
            <a:r>
              <a:rPr lang="en-US" sz="1050" dirty="0">
                <a:solidFill>
                  <a:srgbClr val="D7E1EE"/>
                </a:solidFill>
              </a:rPr>
              <a:t>Datos ficticios y barrera simulada.</a:t>
            </a:r>
            <a:endParaRPr lang="en-US" sz="1050" dirty="0"/>
          </a:p>
        </p:txBody>
      </p:sp>
      <p:sp>
        <p:nvSpPr>
          <p:cNvPr id="30" name="Slide Number Placeholder 0"/>
          <p:cNvSpPr>
            <a:spLocks noGrp="1"/>
          </p:cNvSpPr>
          <p:nvPr>
            <p:ph type="sldNum" sz="quarter" idx="4294967295"/>
          </p:nvPr>
        </p:nvSpPr>
        <p:spPr>
          <a:xfrm>
            <a:off x="11384280" y="6428232"/>
            <a:ext cx="457200" cy="182880"/>
          </a:xfrm>
          <a:prstGeom prst="rect">
            <a:avLst/>
          </a:prstGeom>
          <a:extLst>
            <a:ext uri="{C572A759-6A51-4108-AA02-DFA0A04FC94B}">
              <ma14:wrappingTextBoxFlag xmlns="" xmlns:ma14="http://schemas.microsoft.com/office/mac/drawingml/2011/main" val="0"/>
            </a:ext>
          </a:extLst>
        </p:spPr>
        <p:txBody>
          <a:bodyPr/>
          <a:lstStyle>
            <a:lvl1pPr>
              <a:defRPr sz="700">
                <a:solidFill>
                  <a:srgbClr val="58708F"/>
                </a:solidFill>
                <a:latin typeface="Aptos"/>
                <a:ea typeface="Aptos"/>
                <a:cs typeface="Aptos"/>
              </a:defRPr>
            </a:lvl1pPr>
          </a:lstStyle>
          <a:p>
            <a:pPr algn="r"/>
            <a:fld id="{F7021451-1387-4CA6-816F-3879F97B5CBC}" type="slidenum">
              <a:rPr lang="en-US" sz="1000" b="0"/>
              <a:t>7</a:t>
            </a:fld>
            <a:endParaRPr lang="en-US" sz="10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6" name="Picture 25" descr="73ea2217-3aa7-5ba4-8da8-6a1c1835f362.jpg"/>
          <p:cNvPicPr>
            <a:picLocks noChangeAspect="1"/>
          </p:cNvPicPr>
          <p:nvPr/>
        </p:nvPicPr>
        <p:blipFill>
          <a:blip r:embed="rId3"/>
          <a:stretch>
            <a:fillRect/>
          </a:stretch>
        </p:blipFill>
        <p:spPr>
          <a:xfrm>
            <a:off x="0" y="0"/>
            <a:ext cx="12192000" cy="6858000"/>
          </a:xfrm>
          <a:prstGeom prst="rect">
            <a:avLst/>
          </a:prstGeom>
        </p:spPr>
      </p:pic>
      <p:sp>
        <p:nvSpPr>
          <p:cNvPr id="2" name="Text 0"/>
          <p:cNvSpPr/>
          <p:nvPr/>
        </p:nvSpPr>
        <p:spPr>
          <a:xfrm>
            <a:off x="822960" y="658368"/>
            <a:ext cx="2926080" cy="502920"/>
          </a:xfrm>
          <a:prstGeom prst="rect">
            <a:avLst/>
          </a:prstGeom>
          <a:noFill/>
          <a:ln/>
        </p:spPr>
        <p:txBody>
          <a:bodyPr wrap="square" lIns="0" tIns="0" rIns="0" bIns="0" rtlCol="0" anchor="ctr"/>
          <a:lstStyle/>
          <a:p>
            <a:pPr marL="0" indent="0">
              <a:buNone/>
            </a:pPr>
            <a:r>
              <a:rPr lang="en-US" sz="4800" b="1" dirty="0">
                <a:solidFill>
                  <a:srgbClr val="F8FAFC"/>
                </a:solidFill>
              </a:rPr>
              <a:t>SIRAP</a:t>
            </a:r>
            <a:endParaRPr lang="en-US" sz="4800" dirty="0"/>
          </a:p>
        </p:txBody>
      </p:sp>
      <p:sp>
        <p:nvSpPr>
          <p:cNvPr id="3" name="Text 1"/>
          <p:cNvSpPr/>
          <p:nvPr/>
        </p:nvSpPr>
        <p:spPr>
          <a:xfrm>
            <a:off x="822960" y="1335024"/>
            <a:ext cx="6035040" cy="402336"/>
          </a:xfrm>
          <a:prstGeom prst="rect">
            <a:avLst/>
          </a:prstGeom>
          <a:noFill/>
          <a:ln/>
        </p:spPr>
        <p:txBody>
          <a:bodyPr wrap="square" lIns="0" tIns="0" rIns="0" bIns="0" rtlCol="0" anchor="ctr"/>
          <a:lstStyle/>
          <a:p>
            <a:pPr marL="0" indent="0">
              <a:buNone/>
            </a:pPr>
            <a:r>
              <a:rPr lang="en-US" sz="2800" b="1" dirty="0">
                <a:solidFill>
                  <a:srgbClr val="D7E1EE"/>
                </a:solidFill>
              </a:rPr>
              <a:t>Lectura asistida. Registro de </a:t>
            </a:r>
            <a:r>
              <a:rPr lang="en-US" sz="2800" b="1" dirty="0" err="1">
                <a:solidFill>
                  <a:srgbClr val="D7E1EE"/>
                </a:solidFill>
              </a:rPr>
              <a:t>Accesos</a:t>
            </a:r>
            <a:r>
              <a:rPr lang="en-US" sz="2800" b="1" dirty="0">
                <a:solidFill>
                  <a:srgbClr val="D7E1EE"/>
                </a:solidFill>
              </a:rPr>
              <a:t>. Registro trazable.</a:t>
            </a:r>
            <a:endParaRPr lang="en-US" sz="2800" dirty="0"/>
          </a:p>
        </p:txBody>
      </p:sp>
      <p:sp>
        <p:nvSpPr>
          <p:cNvPr id="5" name="Text 3"/>
          <p:cNvSpPr/>
          <p:nvPr/>
        </p:nvSpPr>
        <p:spPr>
          <a:xfrm>
            <a:off x="822960" y="3145536"/>
            <a:ext cx="1371600" cy="201168"/>
          </a:xfrm>
          <a:prstGeom prst="rect">
            <a:avLst/>
          </a:prstGeom>
          <a:noFill/>
          <a:ln/>
        </p:spPr>
        <p:txBody>
          <a:bodyPr wrap="square" lIns="0" tIns="0" rIns="0" bIns="0" rtlCol="0" anchor="ctr"/>
          <a:lstStyle/>
          <a:p>
            <a:pPr marL="0" indent="0">
              <a:buNone/>
            </a:pPr>
            <a:r>
              <a:rPr lang="en-US" sz="1200" b="1" dirty="0">
                <a:solidFill>
                  <a:srgbClr val="F4B942"/>
                </a:solidFill>
              </a:rPr>
              <a:t>REPOSITORIO</a:t>
            </a:r>
            <a:endParaRPr lang="en-US" sz="1200" dirty="0"/>
          </a:p>
        </p:txBody>
      </p:sp>
      <p:sp>
        <p:nvSpPr>
          <p:cNvPr id="6" name="Text 4"/>
          <p:cNvSpPr/>
          <p:nvPr/>
        </p:nvSpPr>
        <p:spPr>
          <a:xfrm>
            <a:off x="822960" y="3456432"/>
            <a:ext cx="4206240" cy="274320"/>
          </a:xfrm>
          <a:prstGeom prst="rect">
            <a:avLst/>
          </a:prstGeom>
          <a:noFill/>
          <a:ln/>
        </p:spPr>
        <p:txBody>
          <a:bodyPr wrap="square" lIns="0" tIns="0" rIns="0" bIns="0" rtlCol="0" anchor="ctr"/>
          <a:lstStyle/>
          <a:p>
            <a:pPr marL="0" indent="0">
              <a:buNone/>
            </a:pPr>
            <a:r>
              <a:rPr lang="en-US" b="1" dirty="0">
                <a:solidFill>
                  <a:srgbClr val="F8FAFC"/>
                </a:solidFill>
              </a:rPr>
              <a:t>github.com/eduardoceballos666/SIRAP_2</a:t>
            </a:r>
            <a:endParaRPr lang="en-US" dirty="0"/>
          </a:p>
        </p:txBody>
      </p:sp>
      <p:sp>
        <p:nvSpPr>
          <p:cNvPr id="7" name="Text 5"/>
          <p:cNvSpPr/>
          <p:nvPr/>
        </p:nvSpPr>
        <p:spPr>
          <a:xfrm>
            <a:off x="822960" y="4078224"/>
            <a:ext cx="1371600" cy="201168"/>
          </a:xfrm>
          <a:prstGeom prst="rect">
            <a:avLst/>
          </a:prstGeom>
          <a:noFill/>
          <a:ln/>
        </p:spPr>
        <p:txBody>
          <a:bodyPr wrap="square" lIns="0" tIns="0" rIns="0" bIns="0" rtlCol="0" anchor="ctr"/>
          <a:lstStyle/>
          <a:p>
            <a:pPr marL="0" indent="0">
              <a:buNone/>
            </a:pPr>
            <a:r>
              <a:rPr lang="en-US" sz="1200" b="1" dirty="0">
                <a:solidFill>
                  <a:srgbClr val="F4B942"/>
                </a:solidFill>
              </a:rPr>
              <a:t>APLICACIÓN</a:t>
            </a:r>
            <a:endParaRPr lang="en-US" sz="1200" dirty="0"/>
          </a:p>
        </p:txBody>
      </p:sp>
      <p:sp>
        <p:nvSpPr>
          <p:cNvPr id="8" name="Text 6"/>
          <p:cNvSpPr/>
          <p:nvPr/>
        </p:nvSpPr>
        <p:spPr>
          <a:xfrm>
            <a:off x="822960" y="4389120"/>
            <a:ext cx="4206240" cy="274320"/>
          </a:xfrm>
          <a:prstGeom prst="rect">
            <a:avLst/>
          </a:prstGeom>
          <a:noFill/>
          <a:ln/>
        </p:spPr>
        <p:txBody>
          <a:bodyPr wrap="square" lIns="0" tIns="0" rIns="0" bIns="0" rtlCol="0" anchor="ctr"/>
          <a:lstStyle/>
          <a:p>
            <a:pPr marL="0" indent="0">
              <a:buNone/>
            </a:pPr>
            <a:r>
              <a:rPr lang="en-US" b="1" dirty="0">
                <a:solidFill>
                  <a:srgbClr val="F8FAFC"/>
                </a:solidFill>
              </a:rPr>
              <a:t>eduardoceballos-sirap.hf.space</a:t>
            </a:r>
            <a:endParaRPr lang="en-US" dirty="0"/>
          </a:p>
        </p:txBody>
      </p:sp>
      <p:pic>
        <p:nvPicPr>
          <p:cNvPr id="9" name="Image 0" descr="/mnt/data/sirap_extract/ppt/media/image.png"/>
          <p:cNvPicPr>
            <a:picLocks noChangeAspect="1"/>
          </p:cNvPicPr>
          <p:nvPr/>
        </p:nvPicPr>
        <p:blipFill>
          <a:blip r:embed="rId4"/>
          <a:stretch>
            <a:fillRect/>
          </a:stretch>
        </p:blipFill>
        <p:spPr>
          <a:xfrm>
            <a:off x="7452360" y="1874520"/>
            <a:ext cx="1600200" cy="1600200"/>
          </a:xfrm>
          <a:prstGeom prst="rect">
            <a:avLst/>
          </a:prstGeom>
        </p:spPr>
      </p:pic>
      <p:pic>
        <p:nvPicPr>
          <p:cNvPr id="10" name="Image 1" descr="/mnt/data/sirap_extract/ppt/media/image2.png"/>
          <p:cNvPicPr>
            <a:picLocks noChangeAspect="1"/>
          </p:cNvPicPr>
          <p:nvPr/>
        </p:nvPicPr>
        <p:blipFill>
          <a:blip r:embed="rId5"/>
          <a:stretch>
            <a:fillRect/>
          </a:stretch>
        </p:blipFill>
        <p:spPr>
          <a:xfrm>
            <a:off x="9326880" y="1874520"/>
            <a:ext cx="1600200" cy="1600200"/>
          </a:xfrm>
          <a:prstGeom prst="rect">
            <a:avLst/>
          </a:prstGeom>
        </p:spPr>
      </p:pic>
      <p:sp>
        <p:nvSpPr>
          <p:cNvPr id="11" name="Text 7"/>
          <p:cNvSpPr/>
          <p:nvPr/>
        </p:nvSpPr>
        <p:spPr>
          <a:xfrm>
            <a:off x="7635240" y="3602736"/>
            <a:ext cx="1188720" cy="201168"/>
          </a:xfrm>
          <a:prstGeom prst="rect">
            <a:avLst/>
          </a:prstGeom>
          <a:noFill/>
          <a:ln/>
        </p:spPr>
        <p:txBody>
          <a:bodyPr wrap="square" lIns="0" tIns="0" rIns="0" bIns="0" rtlCol="0" anchor="ctr"/>
          <a:lstStyle/>
          <a:p>
            <a:pPr marL="0" indent="0" algn="ctr">
              <a:buNone/>
            </a:pPr>
            <a:r>
              <a:rPr lang="en-US" sz="1200" b="1" dirty="0">
                <a:solidFill>
                  <a:srgbClr val="F4B942"/>
                </a:solidFill>
              </a:rPr>
              <a:t>Repositorio</a:t>
            </a:r>
            <a:endParaRPr lang="en-US" sz="1200" dirty="0"/>
          </a:p>
        </p:txBody>
      </p:sp>
      <p:sp>
        <p:nvSpPr>
          <p:cNvPr id="12" name="Text 8"/>
          <p:cNvSpPr/>
          <p:nvPr/>
        </p:nvSpPr>
        <p:spPr>
          <a:xfrm>
            <a:off x="9528048" y="3602736"/>
            <a:ext cx="1188720" cy="201168"/>
          </a:xfrm>
          <a:prstGeom prst="rect">
            <a:avLst/>
          </a:prstGeom>
          <a:noFill/>
          <a:ln/>
        </p:spPr>
        <p:txBody>
          <a:bodyPr wrap="square" lIns="0" tIns="0" rIns="0" bIns="0" rtlCol="0" anchor="ctr"/>
          <a:lstStyle/>
          <a:p>
            <a:pPr marL="0" indent="0" algn="ctr">
              <a:buNone/>
            </a:pPr>
            <a:r>
              <a:rPr lang="en-US" sz="1200" b="1" dirty="0">
                <a:solidFill>
                  <a:srgbClr val="F4B942"/>
                </a:solidFill>
              </a:rPr>
              <a:t>Aplicación</a:t>
            </a:r>
            <a:endParaRPr lang="en-US" sz="1200" dirty="0"/>
          </a:p>
        </p:txBody>
      </p:sp>
      <p:sp>
        <p:nvSpPr>
          <p:cNvPr id="13" name="Shape 9"/>
          <p:cNvSpPr/>
          <p:nvPr/>
        </p:nvSpPr>
        <p:spPr>
          <a:xfrm>
            <a:off x="822960" y="5166360"/>
            <a:ext cx="10012680" cy="0"/>
          </a:xfrm>
          <a:prstGeom prst="line">
            <a:avLst/>
          </a:prstGeom>
          <a:noFill/>
          <a:ln w="12700">
            <a:solidFill>
              <a:srgbClr val="223A57"/>
            </a:solidFill>
            <a:prstDash val="solid"/>
          </a:ln>
        </p:spPr>
        <p:txBody>
          <a:bodyPr/>
          <a:lstStyle/>
          <a:p>
            <a:endParaRPr lang="es-EC" sz="3600"/>
          </a:p>
        </p:txBody>
      </p:sp>
      <p:sp>
        <p:nvSpPr>
          <p:cNvPr id="14" name="Text 10"/>
          <p:cNvSpPr/>
          <p:nvPr/>
        </p:nvSpPr>
        <p:spPr>
          <a:xfrm>
            <a:off x="822960" y="5559552"/>
            <a:ext cx="5577840" cy="228600"/>
          </a:xfrm>
          <a:prstGeom prst="rect">
            <a:avLst/>
          </a:prstGeom>
          <a:noFill/>
          <a:ln/>
        </p:spPr>
        <p:txBody>
          <a:bodyPr wrap="square" lIns="0" tIns="0" rIns="0" bIns="0" rtlCol="0" anchor="ctr"/>
          <a:lstStyle/>
          <a:p>
            <a:pPr marL="0" indent="0">
              <a:buNone/>
            </a:pPr>
            <a:r>
              <a:rPr lang="en-US" sz="1200" dirty="0">
                <a:solidFill>
                  <a:srgbClr val="D7E1EE"/>
                </a:solidFill>
              </a:rPr>
              <a:t>Eduardo Alejandro Ceballos Jijón · Christian Xavier Valle Maridueña</a:t>
            </a:r>
            <a:endParaRPr lang="en-US" sz="1200" dirty="0"/>
          </a:p>
        </p:txBody>
      </p:sp>
      <p:sp>
        <p:nvSpPr>
          <p:cNvPr id="25" name="Slide Number Placeholder 0"/>
          <p:cNvSpPr>
            <a:spLocks noGrp="1"/>
          </p:cNvSpPr>
          <p:nvPr>
            <p:ph type="sldNum" sz="quarter" idx="4294967295"/>
          </p:nvPr>
        </p:nvSpPr>
        <p:spPr>
          <a:xfrm>
            <a:off x="11384280" y="6428232"/>
            <a:ext cx="457200" cy="182880"/>
          </a:xfrm>
          <a:prstGeom prst="rect">
            <a:avLst/>
          </a:prstGeom>
          <a:extLst>
            <a:ext uri="{C572A759-6A51-4108-AA02-DFA0A04FC94B}">
              <ma14:wrappingTextBoxFlag xmlns="" xmlns:ma14="http://schemas.microsoft.com/office/mac/drawingml/2011/main" val="0"/>
            </a:ext>
          </a:extLst>
        </p:spPr>
        <p:txBody>
          <a:bodyPr/>
          <a:lstStyle>
            <a:lvl1pPr>
              <a:defRPr sz="700">
                <a:solidFill>
                  <a:srgbClr val="58708F"/>
                </a:solidFill>
                <a:latin typeface="Aptos"/>
                <a:ea typeface="Aptos"/>
                <a:cs typeface="Aptos"/>
              </a:defRPr>
            </a:lvl1pPr>
          </a:lstStyle>
          <a:p>
            <a:pPr algn="r"/>
            <a:fld id="{F7021451-1387-4CA6-816F-3879F97B5CBC}" type="slidenum">
              <a:rPr lang="en-US" sz="1100" b="0"/>
              <a:t>8</a:t>
            </a:fld>
            <a:endParaRPr lang="en-US" sz="11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158</TotalTime>
  <Words>1498</Words>
  <Application>Microsoft Office PowerPoint</Application>
  <PresentationFormat>Panorámica</PresentationFormat>
  <Paragraphs>163</Paragraphs>
  <Slides>8</Slides>
  <Notes>8</Notes>
  <HiddenSlides>0</HiddenSlides>
  <MMClips>1</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8</vt:i4>
      </vt:variant>
    </vt:vector>
  </HeadingPairs>
  <TitlesOfParts>
    <vt:vector size="12" baseType="lpstr">
      <vt:lpstr>Aptos</vt:lpstr>
      <vt:lpstr>Aptos Display</vt:lpstr>
      <vt:lpstr>Arial</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UEES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SIRAP - Sistema de Detección y Reconocimiento Automático de Placas</dc:title>
  <dc:subject>SIRAP - Pitch promocional</dc:subject>
  <dc:creator>OpenAI</dc:creator>
  <cp:lastModifiedBy>Christian Valle</cp:lastModifiedBy>
  <cp:revision>5</cp:revision>
  <dcterms:created xsi:type="dcterms:W3CDTF">2026-10-30T18:22:47Z</dcterms:created>
  <dcterms:modified xsi:type="dcterms:W3CDTF">2026-10-30T23:08:32Z</dcterms:modified>
</cp:coreProperties>
</file>